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rphology in NLP" id="{C069710A-81CF-5355-BD6A-B14224F6FEE7}">
          <p14:sldIdLst>
            <p14:sldId id="256"/>
            <p14:sldId id="257"/>
            <p14:sldId id="258"/>
            <p14:sldId id="259"/>
            <p14:sldId id="260"/>
            <p14:sldId id="261"/>
            <p14:sldId id="262"/>
            <p14:sldId id="263"/>
            <p14:sldId id="264"/>
            <p14:sldId id="265"/>
            <p14:sldId id="267"/>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4" d="100"/>
          <a:sy n="154" d="100"/>
        </p:scale>
        <p:origin x="264"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4206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Introduce the topic: two ways words are built and changed. Teal stands for inflection and orange for derivation throughout the deck. Walk to walked is the same word in another form; happy to unhappiness is a brand new word.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Morphology is the study of word structure. A morpheme is the smallest unit that carries meaning. Take unbreakable: un- (prefix), break (root), -able (suffix). Free morphemes can stand alone; bound morphemes like un- and -able cannot. NLP systems need to split and interpret these parts.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Inflection adds grammatical information and keeps the word the same lexeme. English has only eight inflectional suffixes, which is why it is called morphologically poor. Read through the table: plural -s, possessive -'s, third person -s, past -ed, progressive -ing, past participle -en, comparative -er, superlative -est.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Derivation builds new words. It often changes the part of speech, shown by the four cards: verb to noun, adjective to noun, noun to adjective, adjective to verb. It is less productive and less regular than inflection, so some combinations are simply not words.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is the core of the topic. Go row by row. The rule of thumb at the bottom is the one line to remember: inflection changes the form, derivation changes the word.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Words can stack several affixes. Derivation comes first and inflection comes last. In teachers, -er is derivational and -s is inflectional. In nationalizations, -al, -ize and -ation are derivational layers and the final -s is inflection. This ordering is something a morphological analyzer can exploit.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Inflectional analysis mostly serves normalization: reducing many surface forms to one lemma so search engines and models treat them alike. Derivational analysis serves meaning: relating words in a family, expanding queries, and handling words never seen in training.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Inflection is regular but irregular forms need lexicons. Derivation is harder because affixes are ambiguous and meaning is often not the sum of the parts. Sparsity affects both, especially in agglutinative languages like Tamil and Turkish.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Four families of tools. Stemmers like Porter are fast but crude. Lemmatizers use a dictionary and part of speech, so they are more accurate. Finite-state analyzers give full morphological analysis, important for languages like Tamil and Turkish. Subword tokenizers such as BPE and WordPiece learn pieces from data and are what modern language models use.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Close by linking back: grammar versus vocabulary. Rules and finite-state analyzers handle regular inflection well, while subword tokenization is the common way to cope with productive derivation and rare words. Thank the audience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txBody>
          <a:bodyPr/>
          <a:lstStyle/>
          <a:p>
            <a:endParaRPr lang="en-IN"/>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txBody>
          <a:bodyPr/>
          <a:lstStyle/>
          <a:p>
            <a:endParaRPr lang="en-IN"/>
          </a:p>
        </p:txBody>
      </p:sp>
      <p:sp>
        <p:nvSpPr>
          <p:cNvPr id="3" name="Text 1"/>
          <p:cNvSpPr>
            <a:spLocks noGrp="1"/>
          </p:cNvSpPr>
          <p:nvPr>
            <p:ph type="title" idx="101" hasCustomPrompt="1"/>
          </p:nvPr>
        </p:nvSpPr>
        <p:spPr>
          <a:xfrm>
            <a:off x="548640" y="320040"/>
            <a:ext cx="8046720" cy="731520"/>
          </a:xfrm>
          <a:prstGeom prst="rect">
            <a:avLst/>
          </a:prstGeom>
          <a:noFill/>
          <a:ln/>
        </p:spPr>
        <p:txBody>
          <a:bodyPr wrap="square" rtlCol="0"/>
          <a:lstStyle>
            <a:lvl1pPr marL="0" indent="0">
              <a:buNone/>
              <a:defRPr lang="en-US" sz="3600" b="1" dirty="0">
                <a:solidFill>
                  <a:schemeClr val="bg1"/>
                </a:solidFill>
              </a:defRPr>
            </a:lvl1pPr>
          </a:lstStyle>
          <a:p>
            <a:pPr marL="0" indent="0">
              <a:buNone/>
            </a:pPr>
            <a:endParaRPr lang="en-US" sz="36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rtlCol="0"/>
          <a:lstStyle>
            <a:lvl1pPr marL="0" indent="0">
              <a:buNone/>
              <a:defRPr lang="en-US" sz="3600" b="1" dirty="0">
                <a:solidFill>
                  <a:schemeClr val="tx2"/>
                </a:solidFill>
              </a:defRPr>
            </a:lvl1pPr>
          </a:lstStyle>
          <a:p>
            <a:pPr marL="0" indent="0">
              <a:buNone/>
            </a:pPr>
            <a:endParaRPr lang="en-US" sz="36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548640" y="822960"/>
            <a:ext cx="8046720" cy="1371600"/>
          </a:xfrm>
          <a:prstGeom prst="rect">
            <a:avLst/>
          </a:prstGeom>
          <a:noFill/>
          <a:ln/>
        </p:spPr>
        <p:txBody>
          <a:bodyPr wrap="square" lIns="0" tIns="0" rIns="0" bIns="0" rtlCol="0" anchor="ctr"/>
          <a:lstStyle/>
          <a:p>
            <a:pPr marL="0" indent="0">
              <a:buNone/>
            </a:pPr>
            <a:r>
              <a:rPr lang="en-US" sz="4000" b="1" dirty="0">
                <a:solidFill>
                  <a:schemeClr val="bg1"/>
                </a:solidFill>
                <a:latin typeface="Cambria" pitchFamily="34" charset="0"/>
                <a:ea typeface="Cambria" pitchFamily="34" charset="-122"/>
                <a:cs typeface="Cambria" pitchFamily="34" charset="-120"/>
              </a:rPr>
              <a:t>Inflectional vs Derivational Morphology in NLP</a:t>
            </a:r>
            <a:endParaRPr lang="en-US" sz="4000" dirty="0"/>
          </a:p>
        </p:txBody>
      </p:sp>
      <p:sp>
        <p:nvSpPr>
          <p:cNvPr id="3" name="Subtitle"/>
          <p:cNvSpPr txBox="1"/>
          <p:nvPr/>
        </p:nvSpPr>
        <p:spPr>
          <a:xfrm>
            <a:off x="548640" y="2240280"/>
            <a:ext cx="8046720" cy="457200"/>
          </a:xfrm>
          <a:prstGeom prst="rect">
            <a:avLst/>
          </a:prstGeom>
          <a:noFill/>
          <a:ln/>
        </p:spPr>
        <p:txBody>
          <a:bodyPr wrap="square" lIns="0" tIns="0" rIns="0" bIns="0" rtlCol="0" anchor="ctr"/>
          <a:lstStyle/>
          <a:p>
            <a:pPr marL="0" indent="0">
              <a:buNone/>
            </a:pPr>
            <a:r>
              <a:rPr lang="en-US" sz="2000" dirty="0">
                <a:solidFill>
                  <a:schemeClr val="bg2"/>
                </a:solidFill>
              </a:rPr>
              <a:t>Characteristics, applications and challenges</a:t>
            </a:r>
            <a:endParaRPr lang="en-US" sz="2000" dirty="0"/>
          </a:p>
        </p:txBody>
      </p:sp>
      <p:sp>
        <p:nvSpPr>
          <p:cNvPr id="4" name="Inflectional chip"/>
          <p:cNvSpPr/>
          <p:nvPr/>
        </p:nvSpPr>
        <p:spPr>
          <a:xfrm>
            <a:off x="548640" y="3246120"/>
            <a:ext cx="3840480" cy="1097280"/>
          </a:xfrm>
          <a:prstGeom prst="roundRect">
            <a:avLst>
              <a:gd name="adj" fmla="val 10000"/>
            </a:avLst>
          </a:prstGeom>
          <a:solidFill>
            <a:schemeClr val="accent1"/>
          </a:solidFill>
          <a:ln/>
        </p:spPr>
        <p:txBody>
          <a:bodyPr/>
          <a:lstStyle/>
          <a:p>
            <a:endParaRPr lang="en-IN"/>
          </a:p>
        </p:txBody>
      </p:sp>
      <p:sp>
        <p:nvSpPr>
          <p:cNvPr id="5" name="Text 3"/>
          <p:cNvSpPr txBox="1"/>
          <p:nvPr/>
        </p:nvSpPr>
        <p:spPr>
          <a:xfrm>
            <a:off x="731520" y="3291840"/>
            <a:ext cx="3474720" cy="1005840"/>
          </a:xfrm>
          <a:prstGeom prst="rect">
            <a:avLst/>
          </a:prstGeom>
          <a:noFill/>
          <a:ln/>
        </p:spPr>
        <p:txBody>
          <a:bodyPr wrap="square" lIns="0" tIns="0" rIns="0" bIns="0" rtlCol="0" anchor="ctr"/>
          <a:lstStyle/>
          <a:p>
            <a:pPr marL="0" indent="0">
              <a:buNone/>
            </a:pPr>
            <a:r>
              <a:rPr lang="en-US" sz="2400" b="1" dirty="0">
                <a:solidFill>
                  <a:schemeClr val="bg1"/>
                </a:solidFill>
              </a:rPr>
              <a:t>walk → walked</a:t>
            </a:r>
            <a:endParaRPr lang="en-US" sz="2400" dirty="0"/>
          </a:p>
          <a:p>
            <a:pPr marL="0" indent="0">
              <a:buNone/>
            </a:pPr>
            <a:r>
              <a:rPr lang="en-US" sz="1400" dirty="0">
                <a:solidFill>
                  <a:schemeClr val="bg1"/>
                </a:solidFill>
              </a:rPr>
              <a:t>Inflectional: new form, same word</a:t>
            </a:r>
            <a:endParaRPr lang="en-US" sz="2400" dirty="0"/>
          </a:p>
        </p:txBody>
      </p:sp>
      <p:sp>
        <p:nvSpPr>
          <p:cNvPr id="6" name="Derivational chip"/>
          <p:cNvSpPr/>
          <p:nvPr/>
        </p:nvSpPr>
        <p:spPr>
          <a:xfrm>
            <a:off x="4754880" y="3246120"/>
            <a:ext cx="3840480" cy="1097280"/>
          </a:xfrm>
          <a:prstGeom prst="roundRect">
            <a:avLst>
              <a:gd name="adj" fmla="val 10000"/>
            </a:avLst>
          </a:prstGeom>
          <a:solidFill>
            <a:schemeClr val="accent2"/>
          </a:solidFill>
          <a:ln/>
        </p:spPr>
        <p:txBody>
          <a:bodyPr/>
          <a:lstStyle/>
          <a:p>
            <a:endParaRPr lang="en-IN"/>
          </a:p>
        </p:txBody>
      </p:sp>
      <p:sp>
        <p:nvSpPr>
          <p:cNvPr id="7" name="Text 5"/>
          <p:cNvSpPr txBox="1"/>
          <p:nvPr/>
        </p:nvSpPr>
        <p:spPr>
          <a:xfrm>
            <a:off x="4937760" y="3291840"/>
            <a:ext cx="3474720" cy="1005840"/>
          </a:xfrm>
          <a:prstGeom prst="rect">
            <a:avLst/>
          </a:prstGeom>
          <a:noFill/>
          <a:ln/>
        </p:spPr>
        <p:txBody>
          <a:bodyPr wrap="square" lIns="0" tIns="0" rIns="0" bIns="0" rtlCol="0" anchor="ctr"/>
          <a:lstStyle/>
          <a:p>
            <a:pPr marL="0" indent="0">
              <a:buNone/>
            </a:pPr>
            <a:r>
              <a:rPr lang="en-US" sz="2400" b="1" dirty="0">
                <a:solidFill>
                  <a:schemeClr val="bg1"/>
                </a:solidFill>
              </a:rPr>
              <a:t>happy → unhappiness</a:t>
            </a:r>
            <a:endParaRPr lang="en-US" sz="2400" dirty="0"/>
          </a:p>
          <a:p>
            <a:pPr marL="0" indent="0">
              <a:buNone/>
            </a:pPr>
            <a:r>
              <a:rPr lang="en-US" sz="1400" dirty="0">
                <a:solidFill>
                  <a:schemeClr val="bg1"/>
                </a:solidFill>
              </a:rPr>
              <a:t>Derivational: new word, new meaning</a:t>
            </a:r>
            <a:endParaRPr lang="en-US" sz="24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l"/>
            <a:fld id="{F7021451-1387-4CA6-816F-3879F97B5CBC}" type="slidenum">
              <a:rPr lang="en-US" b="0"/>
              <a:t>1</a:t>
            </a:fld>
            <a:endParaRPr lang="en-US"/>
          </a:p>
        </p:txBody>
      </p:sp>
      <p:sp>
        <p:nvSpPr>
          <p:cNvPr id="8" name="TextBox 7">
            <a:extLst>
              <a:ext uri="{FF2B5EF4-FFF2-40B4-BE49-F238E27FC236}">
                <a16:creationId xmlns:a16="http://schemas.microsoft.com/office/drawing/2014/main" id="{3AA225A0-0326-EB98-D783-29CAEF532ABC}"/>
              </a:ext>
            </a:extLst>
          </p:cNvPr>
          <p:cNvSpPr txBox="1"/>
          <p:nvPr/>
        </p:nvSpPr>
        <p:spPr>
          <a:xfrm>
            <a:off x="304800" y="4540898"/>
            <a:ext cx="4267200" cy="577081"/>
          </a:xfrm>
          <a:prstGeom prst="rect">
            <a:avLst/>
          </a:prstGeom>
          <a:noFill/>
        </p:spPr>
        <p:txBody>
          <a:bodyPr wrap="square" rtlCol="0">
            <a:spAutoFit/>
          </a:bodyPr>
          <a:lstStyle/>
          <a:p>
            <a:r>
              <a:rPr lang="en-US" sz="1050" dirty="0">
                <a:solidFill>
                  <a:schemeClr val="bg1"/>
                </a:solidFill>
              </a:rPr>
              <a:t>V.V.D.Nagasai Ratan Reddy</a:t>
            </a:r>
          </a:p>
          <a:p>
            <a:r>
              <a:rPr lang="en-US" sz="1050" dirty="0">
                <a:solidFill>
                  <a:schemeClr val="bg1"/>
                </a:solidFill>
              </a:rPr>
              <a:t>192324172      AI&amp;DS</a:t>
            </a:r>
          </a:p>
          <a:p>
            <a:endParaRPr lang="en-IN" sz="105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lIns="0" tIns="0" rIns="0" bIns="0" rtlCol="0" anchor="ctr"/>
          <a:lstStyle/>
          <a:p>
            <a:pPr marL="0" indent="0">
              <a:buNone/>
            </a:pPr>
            <a:r>
              <a:rPr lang="en-US" sz="3600" b="1" dirty="0">
                <a:solidFill>
                  <a:schemeClr val="tx2"/>
                </a:solidFill>
              </a:rPr>
              <a:t>What is morphology?</a:t>
            </a:r>
            <a:endParaRPr lang="en-US" sz="3600" dirty="0"/>
          </a:p>
        </p:txBody>
      </p:sp>
      <p:sp>
        <p:nvSpPr>
          <p:cNvPr id="4" name="Chip un"/>
          <p:cNvSpPr/>
          <p:nvPr/>
        </p:nvSpPr>
        <p:spPr>
          <a:xfrm>
            <a:off x="1005840" y="1325880"/>
            <a:ext cx="2103120" cy="868680"/>
          </a:xfrm>
          <a:prstGeom prst="roundRect">
            <a:avLst>
              <a:gd name="adj" fmla="val 10526"/>
            </a:avLst>
          </a:prstGeom>
          <a:solidFill>
            <a:schemeClr val="accent6"/>
          </a:solidFill>
          <a:ln/>
        </p:spPr>
        <p:txBody>
          <a:bodyPr/>
          <a:lstStyle/>
          <a:p>
            <a:endParaRPr lang="en-IN"/>
          </a:p>
        </p:txBody>
      </p:sp>
      <p:sp>
        <p:nvSpPr>
          <p:cNvPr id="5" name="Text 2"/>
          <p:cNvSpPr txBox="1"/>
          <p:nvPr/>
        </p:nvSpPr>
        <p:spPr>
          <a:xfrm>
            <a:off x="1005840" y="1325880"/>
            <a:ext cx="2103120" cy="868680"/>
          </a:xfrm>
          <a:prstGeom prst="rect">
            <a:avLst/>
          </a:prstGeom>
          <a:noFill/>
          <a:ln/>
        </p:spPr>
        <p:txBody>
          <a:bodyPr wrap="square" lIns="0" tIns="0" rIns="0" bIns="0" rtlCol="0" anchor="ctr"/>
          <a:lstStyle/>
          <a:p>
            <a:pPr marL="0" indent="0" algn="ctr">
              <a:buNone/>
            </a:pPr>
            <a:r>
              <a:rPr lang="en-US" sz="3200" b="1" dirty="0">
                <a:solidFill>
                  <a:schemeClr val="bg1"/>
                </a:solidFill>
              </a:rPr>
              <a:t>un</a:t>
            </a:r>
            <a:endParaRPr lang="en-US" sz="3200" dirty="0"/>
          </a:p>
        </p:txBody>
      </p:sp>
      <p:sp>
        <p:nvSpPr>
          <p:cNvPr id="6" name="Text 3"/>
          <p:cNvSpPr txBox="1"/>
          <p:nvPr/>
        </p:nvSpPr>
        <p:spPr>
          <a:xfrm>
            <a:off x="1005840" y="2240280"/>
            <a:ext cx="2103120" cy="320040"/>
          </a:xfrm>
          <a:prstGeom prst="rect">
            <a:avLst/>
          </a:prstGeom>
          <a:noFill/>
          <a:ln/>
        </p:spPr>
        <p:txBody>
          <a:bodyPr wrap="square" lIns="0" tIns="0" rIns="0" bIns="0" rtlCol="0" anchor="ctr"/>
          <a:lstStyle/>
          <a:p>
            <a:pPr marL="0" indent="0" algn="ctr">
              <a:buNone/>
            </a:pPr>
            <a:r>
              <a:rPr lang="en-US" sz="1400" dirty="0">
                <a:solidFill>
                  <a:schemeClr val="tx1"/>
                </a:solidFill>
              </a:rPr>
              <a:t>prefix</a:t>
            </a:r>
            <a:endParaRPr lang="en-US" sz="1400" dirty="0"/>
          </a:p>
        </p:txBody>
      </p:sp>
      <p:sp>
        <p:nvSpPr>
          <p:cNvPr id="7" name="Chip break"/>
          <p:cNvSpPr/>
          <p:nvPr/>
        </p:nvSpPr>
        <p:spPr>
          <a:xfrm>
            <a:off x="3657600" y="1325880"/>
            <a:ext cx="2103120" cy="868680"/>
          </a:xfrm>
          <a:prstGeom prst="roundRect">
            <a:avLst>
              <a:gd name="adj" fmla="val 10526"/>
            </a:avLst>
          </a:prstGeom>
          <a:solidFill>
            <a:schemeClr val="tx2"/>
          </a:solidFill>
          <a:ln/>
        </p:spPr>
        <p:txBody>
          <a:bodyPr/>
          <a:lstStyle/>
          <a:p>
            <a:endParaRPr lang="en-IN"/>
          </a:p>
        </p:txBody>
      </p:sp>
      <p:sp>
        <p:nvSpPr>
          <p:cNvPr id="8" name="Text 5"/>
          <p:cNvSpPr txBox="1"/>
          <p:nvPr/>
        </p:nvSpPr>
        <p:spPr>
          <a:xfrm>
            <a:off x="3657600" y="1325880"/>
            <a:ext cx="2103120" cy="868680"/>
          </a:xfrm>
          <a:prstGeom prst="rect">
            <a:avLst/>
          </a:prstGeom>
          <a:noFill/>
          <a:ln/>
        </p:spPr>
        <p:txBody>
          <a:bodyPr wrap="square" lIns="0" tIns="0" rIns="0" bIns="0" rtlCol="0" anchor="ctr"/>
          <a:lstStyle/>
          <a:p>
            <a:pPr marL="0" indent="0" algn="ctr">
              <a:buNone/>
            </a:pPr>
            <a:r>
              <a:rPr lang="en-US" sz="3200" b="1" dirty="0">
                <a:solidFill>
                  <a:schemeClr val="bg1"/>
                </a:solidFill>
              </a:rPr>
              <a:t>break</a:t>
            </a:r>
            <a:endParaRPr lang="en-US" sz="3200" dirty="0"/>
          </a:p>
        </p:txBody>
      </p:sp>
      <p:sp>
        <p:nvSpPr>
          <p:cNvPr id="9" name="Text 6"/>
          <p:cNvSpPr txBox="1"/>
          <p:nvPr/>
        </p:nvSpPr>
        <p:spPr>
          <a:xfrm>
            <a:off x="3657600" y="2240280"/>
            <a:ext cx="2103120" cy="320040"/>
          </a:xfrm>
          <a:prstGeom prst="rect">
            <a:avLst/>
          </a:prstGeom>
          <a:noFill/>
          <a:ln/>
        </p:spPr>
        <p:txBody>
          <a:bodyPr wrap="square" lIns="0" tIns="0" rIns="0" bIns="0" rtlCol="0" anchor="ctr"/>
          <a:lstStyle/>
          <a:p>
            <a:pPr marL="0" indent="0" algn="ctr">
              <a:buNone/>
            </a:pPr>
            <a:r>
              <a:rPr lang="en-US" sz="1400" dirty="0">
                <a:solidFill>
                  <a:schemeClr val="tx1"/>
                </a:solidFill>
              </a:rPr>
              <a:t>root / stem</a:t>
            </a:r>
            <a:endParaRPr lang="en-US" sz="1400" dirty="0"/>
          </a:p>
        </p:txBody>
      </p:sp>
      <p:sp>
        <p:nvSpPr>
          <p:cNvPr id="10" name="Chip able"/>
          <p:cNvSpPr/>
          <p:nvPr/>
        </p:nvSpPr>
        <p:spPr>
          <a:xfrm>
            <a:off x="6309360" y="1325880"/>
            <a:ext cx="2103120" cy="868680"/>
          </a:xfrm>
          <a:prstGeom prst="roundRect">
            <a:avLst>
              <a:gd name="adj" fmla="val 10526"/>
            </a:avLst>
          </a:prstGeom>
          <a:solidFill>
            <a:schemeClr val="accent5"/>
          </a:solidFill>
          <a:ln/>
        </p:spPr>
        <p:txBody>
          <a:bodyPr/>
          <a:lstStyle/>
          <a:p>
            <a:endParaRPr lang="en-IN"/>
          </a:p>
        </p:txBody>
      </p:sp>
      <p:sp>
        <p:nvSpPr>
          <p:cNvPr id="11" name="Text 8"/>
          <p:cNvSpPr txBox="1"/>
          <p:nvPr/>
        </p:nvSpPr>
        <p:spPr>
          <a:xfrm>
            <a:off x="6309360" y="1325880"/>
            <a:ext cx="2103120" cy="868680"/>
          </a:xfrm>
          <a:prstGeom prst="rect">
            <a:avLst/>
          </a:prstGeom>
          <a:noFill/>
          <a:ln/>
        </p:spPr>
        <p:txBody>
          <a:bodyPr wrap="square" lIns="0" tIns="0" rIns="0" bIns="0" rtlCol="0" anchor="ctr"/>
          <a:lstStyle/>
          <a:p>
            <a:pPr marL="0" indent="0" algn="ctr">
              <a:buNone/>
            </a:pPr>
            <a:r>
              <a:rPr lang="en-US" sz="3200" b="1" dirty="0">
                <a:solidFill>
                  <a:schemeClr val="bg1"/>
                </a:solidFill>
              </a:rPr>
              <a:t>able</a:t>
            </a:r>
            <a:endParaRPr lang="en-US" sz="3200" dirty="0"/>
          </a:p>
        </p:txBody>
      </p:sp>
      <p:sp>
        <p:nvSpPr>
          <p:cNvPr id="12" name="Text 9"/>
          <p:cNvSpPr txBox="1"/>
          <p:nvPr/>
        </p:nvSpPr>
        <p:spPr>
          <a:xfrm>
            <a:off x="6309360" y="2240280"/>
            <a:ext cx="2103120" cy="320040"/>
          </a:xfrm>
          <a:prstGeom prst="rect">
            <a:avLst/>
          </a:prstGeom>
          <a:noFill/>
          <a:ln/>
        </p:spPr>
        <p:txBody>
          <a:bodyPr wrap="square" lIns="0" tIns="0" rIns="0" bIns="0" rtlCol="0" anchor="ctr"/>
          <a:lstStyle/>
          <a:p>
            <a:pPr marL="0" indent="0" algn="ctr">
              <a:buNone/>
            </a:pPr>
            <a:r>
              <a:rPr lang="en-US" sz="1400" dirty="0">
                <a:solidFill>
                  <a:schemeClr val="tx1"/>
                </a:solidFill>
              </a:rPr>
              <a:t>suffix</a:t>
            </a:r>
            <a:endParaRPr lang="en-US" sz="1400" dirty="0"/>
          </a:p>
        </p:txBody>
      </p:sp>
      <p:sp>
        <p:nvSpPr>
          <p:cNvPr id="13" name="Text 10"/>
          <p:cNvSpPr txBox="1"/>
          <p:nvPr/>
        </p:nvSpPr>
        <p:spPr>
          <a:xfrm>
            <a:off x="548640" y="2651760"/>
            <a:ext cx="8046720" cy="365760"/>
          </a:xfrm>
          <a:prstGeom prst="rect">
            <a:avLst/>
          </a:prstGeom>
          <a:noFill/>
          <a:ln/>
        </p:spPr>
        <p:txBody>
          <a:bodyPr wrap="square" lIns="0" tIns="0" rIns="0" bIns="0" rtlCol="0" anchor="ctr"/>
          <a:lstStyle/>
          <a:p>
            <a:pPr marL="0" indent="0" algn="ctr">
              <a:buNone/>
            </a:pPr>
            <a:r>
              <a:rPr lang="en-US" sz="1800" i="1" dirty="0">
                <a:solidFill>
                  <a:schemeClr val="tx2"/>
                </a:solidFill>
              </a:rPr>
              <a:t>un + break + able = unbreakable</a:t>
            </a:r>
            <a:endParaRPr lang="en-US" sz="1800" dirty="0"/>
          </a:p>
        </p:txBody>
      </p:sp>
      <p:sp>
        <p:nvSpPr>
          <p:cNvPr id="14" name="Free morpheme card"/>
          <p:cNvSpPr/>
          <p:nvPr/>
        </p:nvSpPr>
        <p:spPr>
          <a:xfrm>
            <a:off x="548640" y="3200400"/>
            <a:ext cx="3931920" cy="1325880"/>
          </a:xfrm>
          <a:prstGeom prst="roundRect">
            <a:avLst>
              <a:gd name="adj" fmla="val 6897"/>
            </a:avLst>
          </a:prstGeom>
          <a:solidFill>
            <a:schemeClr val="bg2"/>
          </a:solidFill>
          <a:ln/>
        </p:spPr>
        <p:txBody>
          <a:bodyPr/>
          <a:lstStyle/>
          <a:p>
            <a:endParaRPr lang="en-IN"/>
          </a:p>
        </p:txBody>
      </p:sp>
      <p:sp>
        <p:nvSpPr>
          <p:cNvPr id="15" name="Text 12"/>
          <p:cNvSpPr txBox="1"/>
          <p:nvPr/>
        </p:nvSpPr>
        <p:spPr>
          <a:xfrm>
            <a:off x="777240" y="3273552"/>
            <a:ext cx="3474720" cy="36576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Free morpheme</a:t>
            </a:r>
            <a:endParaRPr lang="en-US" sz="1800" dirty="0"/>
          </a:p>
        </p:txBody>
      </p:sp>
      <p:sp>
        <p:nvSpPr>
          <p:cNvPr id="16" name="Text 13"/>
          <p:cNvSpPr txBox="1"/>
          <p:nvPr/>
        </p:nvSpPr>
        <p:spPr>
          <a:xfrm>
            <a:off x="777240" y="3675888"/>
            <a:ext cx="3474720" cy="777240"/>
          </a:xfrm>
          <a:prstGeom prst="rect">
            <a:avLst/>
          </a:prstGeom>
          <a:noFill/>
          <a:ln/>
        </p:spPr>
        <p:txBody>
          <a:bodyPr wrap="square" lIns="0" tIns="0" rIns="0" bIns="0" rtlCol="0" anchor="t"/>
          <a:lstStyle/>
          <a:p>
            <a:pPr marL="0" indent="0">
              <a:buNone/>
            </a:pPr>
            <a:r>
              <a:rPr lang="en-US" sz="1400" dirty="0">
                <a:solidFill>
                  <a:schemeClr val="tx1"/>
                </a:solidFill>
              </a:rPr>
              <a:t>Can stand alone as a word: break, happy, teach.</a:t>
            </a:r>
            <a:endParaRPr lang="en-US" sz="1400" dirty="0"/>
          </a:p>
        </p:txBody>
      </p:sp>
      <p:sp>
        <p:nvSpPr>
          <p:cNvPr id="17" name="Bound morpheme card"/>
          <p:cNvSpPr/>
          <p:nvPr/>
        </p:nvSpPr>
        <p:spPr>
          <a:xfrm>
            <a:off x="4663440" y="3200400"/>
            <a:ext cx="3931920" cy="1325880"/>
          </a:xfrm>
          <a:prstGeom prst="roundRect">
            <a:avLst>
              <a:gd name="adj" fmla="val 6897"/>
            </a:avLst>
          </a:prstGeom>
          <a:solidFill>
            <a:schemeClr val="bg2"/>
          </a:solidFill>
          <a:ln/>
        </p:spPr>
        <p:txBody>
          <a:bodyPr/>
          <a:lstStyle/>
          <a:p>
            <a:endParaRPr lang="en-IN"/>
          </a:p>
        </p:txBody>
      </p:sp>
      <p:sp>
        <p:nvSpPr>
          <p:cNvPr id="18" name="Text 15"/>
          <p:cNvSpPr txBox="1"/>
          <p:nvPr/>
        </p:nvSpPr>
        <p:spPr>
          <a:xfrm>
            <a:off x="4892040" y="3273552"/>
            <a:ext cx="3474720" cy="36576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Bound morpheme</a:t>
            </a:r>
            <a:endParaRPr lang="en-US" sz="1800" dirty="0"/>
          </a:p>
        </p:txBody>
      </p:sp>
      <p:sp>
        <p:nvSpPr>
          <p:cNvPr id="19" name="Text 16"/>
          <p:cNvSpPr txBox="1"/>
          <p:nvPr/>
        </p:nvSpPr>
        <p:spPr>
          <a:xfrm>
            <a:off x="4892040" y="3675888"/>
            <a:ext cx="3474720" cy="777240"/>
          </a:xfrm>
          <a:prstGeom prst="rect">
            <a:avLst/>
          </a:prstGeom>
          <a:noFill/>
          <a:ln/>
        </p:spPr>
        <p:txBody>
          <a:bodyPr wrap="square" lIns="0" tIns="0" rIns="0" bIns="0" rtlCol="0" anchor="t"/>
          <a:lstStyle/>
          <a:p>
            <a:pPr marL="0" indent="0">
              <a:buNone/>
            </a:pPr>
            <a:r>
              <a:rPr lang="en-US" sz="1400" dirty="0">
                <a:solidFill>
                  <a:schemeClr val="tx1"/>
                </a:solidFill>
              </a:rPr>
              <a:t>Must attach to another: un-, -able, -ed, -ness.</a:t>
            </a:r>
            <a:endParaRPr lang="en-US" sz="14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lIns="0" tIns="0" rIns="0" bIns="0" rtlCol="0" anchor="ctr"/>
          <a:lstStyle/>
          <a:p>
            <a:pPr marL="0" indent="0">
              <a:buNone/>
            </a:pPr>
            <a:r>
              <a:rPr lang="en-US" sz="3600" b="1" dirty="0">
                <a:solidFill>
                  <a:schemeClr val="tx2"/>
                </a:solidFill>
              </a:rPr>
              <a:t>Inflectional morphology</a:t>
            </a:r>
            <a:endParaRPr lang="en-US" sz="3600" dirty="0"/>
          </a:p>
        </p:txBody>
      </p:sp>
      <p:sp>
        <p:nvSpPr>
          <p:cNvPr id="4" name="Text 1"/>
          <p:cNvSpPr txBox="1"/>
          <p:nvPr/>
        </p:nvSpPr>
        <p:spPr>
          <a:xfrm>
            <a:off x="548640" y="1325880"/>
            <a:ext cx="3749040"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Adds grammar: tense, number, case, degree</a:t>
            </a:r>
            <a:endParaRPr lang="en-US" sz="1600" dirty="0"/>
          </a:p>
          <a:p>
            <a:pPr marL="342900" indent="-342900">
              <a:spcAft>
                <a:spcPts val="800"/>
              </a:spcAft>
              <a:buSzPct val="100000"/>
              <a:buChar char="•"/>
            </a:pPr>
            <a:r>
              <a:rPr lang="en-US" sz="1600" dirty="0">
                <a:solidFill>
                  <a:schemeClr val="tx1"/>
                </a:solidFill>
              </a:rPr>
              <a:t>Same word class and core meaning</a:t>
            </a:r>
            <a:endParaRPr lang="en-US" sz="1600" dirty="0"/>
          </a:p>
          <a:p>
            <a:pPr marL="342900" indent="-342900">
              <a:spcAft>
                <a:spcPts val="800"/>
              </a:spcAft>
              <a:buSzPct val="100000"/>
              <a:buChar char="•"/>
            </a:pPr>
            <a:r>
              <a:rPr lang="en-US" sz="1600" dirty="0">
                <a:solidFill>
                  <a:schemeClr val="tx1"/>
                </a:solidFill>
              </a:rPr>
              <a:t>Regular and highly productive</a:t>
            </a:r>
            <a:endParaRPr lang="en-US" sz="1600" dirty="0"/>
          </a:p>
          <a:p>
            <a:pPr marL="342900" indent="-342900">
              <a:spcAft>
                <a:spcPts val="800"/>
              </a:spcAft>
              <a:buSzPct val="100000"/>
              <a:buChar char="•"/>
            </a:pPr>
            <a:r>
              <a:rPr lang="en-US" sz="1600" dirty="0">
                <a:solidFill>
                  <a:schemeClr val="tx1"/>
                </a:solidFill>
              </a:rPr>
              <a:t>Always the outermost layer of a word</a:t>
            </a:r>
            <a:endParaRPr lang="en-US" sz="1600" dirty="0"/>
          </a:p>
        </p:txBody>
      </p:sp>
      <p:graphicFrame>
        <p:nvGraphicFramePr>
          <p:cNvPr id="3" name="Inflection table"/>
          <p:cNvGraphicFramePr>
            <a:graphicFrameLocks noGrp="1"/>
          </p:cNvGraphicFramePr>
          <p:nvPr>
            <p:extLst>
              <p:ext uri="{D42A27DB-BD31-4B8C-83A1-F6EECF244321}">
                <p14:modId xmlns:p14="http://schemas.microsoft.com/office/powerpoint/2010/main" val="1579011935"/>
              </p:ext>
            </p:extLst>
          </p:nvPr>
        </p:nvGraphicFramePr>
        <p:xfrm>
          <a:off x="4572000" y="1325880"/>
          <a:ext cx="4023360" cy="2743200"/>
        </p:xfrm>
        <a:graphic>
          <a:graphicData uri="http://schemas.openxmlformats.org/drawingml/2006/table">
            <a:tbl>
              <a:tblPr/>
              <a:tblGrid>
                <a:gridCol w="10972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457200">
                <a:tc>
                  <a:txBody>
                    <a:bodyPr/>
                    <a:lstStyle/>
                    <a:p>
                      <a:pPr marL="0" indent="0">
                        <a:buNone/>
                      </a:pPr>
                      <a:r>
                        <a:rPr lang="en-US" sz="1400" b="1" dirty="0">
                          <a:solidFill>
                            <a:schemeClr val="bg1"/>
                          </a:solidFill>
                        </a:rPr>
                        <a:t>Suffix</a:t>
                      </a:r>
                      <a:endParaRPr lang="en-US" sz="1400" dirty="0"/>
                    </a:p>
                  </a:txBody>
                  <a:tcPr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Role</a:t>
                      </a:r>
                      <a:endParaRPr lang="en-US" sz="1400" dirty="0"/>
                    </a:p>
                  </a:txBody>
                  <a:tcPr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Example</a:t>
                      </a:r>
                      <a:endParaRPr lang="en-US" sz="1400" dirty="0"/>
                    </a:p>
                  </a:txBody>
                  <a:tcPr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57200">
                <a:tc>
                  <a:txBody>
                    <a:bodyPr/>
                    <a:lstStyle/>
                    <a:p>
                      <a:pPr marL="0" indent="0">
                        <a:buNone/>
                      </a:pPr>
                      <a:r>
                        <a:rPr lang="en-US" sz="1400" b="1" dirty="0">
                          <a:solidFill>
                            <a:schemeClr val="tx1"/>
                          </a:solidFill>
                        </a:rPr>
                        <a:t>-s</a:t>
                      </a:r>
                      <a:endParaRPr lang="en-US" sz="1400" dirty="0"/>
                    </a:p>
                  </a:txBody>
                  <a:tcPr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plural</a:t>
                      </a:r>
                      <a:endParaRPr lang="en-US" sz="1400" dirty="0"/>
                    </a:p>
                  </a:txBody>
                  <a:tcPr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cat → cats</a:t>
                      </a:r>
                      <a:endParaRPr lang="en-US" sz="1400" dirty="0"/>
                    </a:p>
                  </a:txBody>
                  <a:tcPr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57200">
                <a:tc>
                  <a:txBody>
                    <a:bodyPr/>
                    <a:lstStyle/>
                    <a:p>
                      <a:pPr marL="0" indent="0">
                        <a:buNone/>
                      </a:pPr>
                      <a:r>
                        <a:rPr lang="en-US" sz="1400" b="1" dirty="0">
                          <a:solidFill>
                            <a:schemeClr val="tx1"/>
                          </a:solidFill>
                        </a:rPr>
                        <a:t>-s</a:t>
                      </a:r>
                      <a:endParaRPr lang="en-US" sz="1400" dirty="0"/>
                    </a:p>
                  </a:txBody>
                  <a:tcPr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3rd person</a:t>
                      </a:r>
                      <a:endParaRPr lang="en-US" sz="1400" dirty="0"/>
                    </a:p>
                  </a:txBody>
                  <a:tcPr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walk → walks</a:t>
                      </a:r>
                      <a:endParaRPr lang="en-US" sz="1400" dirty="0"/>
                    </a:p>
                  </a:txBody>
                  <a:tcPr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57200">
                <a:tc>
                  <a:txBody>
                    <a:bodyPr/>
                    <a:lstStyle/>
                    <a:p>
                      <a:pPr marL="0" indent="0">
                        <a:buNone/>
                      </a:pPr>
                      <a:r>
                        <a:rPr lang="en-US" sz="1400" b="1" dirty="0">
                          <a:solidFill>
                            <a:schemeClr val="tx1"/>
                          </a:solidFill>
                        </a:rPr>
                        <a:t>-ed</a:t>
                      </a:r>
                      <a:endParaRPr lang="en-US" sz="1400" dirty="0"/>
                    </a:p>
                  </a:txBody>
                  <a:tcPr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past tense</a:t>
                      </a:r>
                      <a:endParaRPr lang="en-US" sz="1400" dirty="0"/>
                    </a:p>
                  </a:txBody>
                  <a:tcPr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walk → walked</a:t>
                      </a:r>
                      <a:endParaRPr lang="en-US" sz="1400" dirty="0"/>
                    </a:p>
                  </a:txBody>
                  <a:tcPr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57200">
                <a:tc>
                  <a:txBody>
                    <a:bodyPr/>
                    <a:lstStyle/>
                    <a:p>
                      <a:pPr marL="0" indent="0">
                        <a:buNone/>
                      </a:pPr>
                      <a:r>
                        <a:rPr lang="en-US" sz="1400" b="1" dirty="0">
                          <a:solidFill>
                            <a:schemeClr val="tx1"/>
                          </a:solidFill>
                        </a:rPr>
                        <a:t>-ing</a:t>
                      </a:r>
                      <a:endParaRPr lang="en-US" sz="1400" dirty="0"/>
                    </a:p>
                  </a:txBody>
                  <a:tcPr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progressive</a:t>
                      </a:r>
                      <a:endParaRPr lang="en-US" sz="1400" dirty="0"/>
                    </a:p>
                  </a:txBody>
                  <a:tcPr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walk → walking</a:t>
                      </a:r>
                      <a:endParaRPr lang="en-US" sz="1400" dirty="0"/>
                    </a:p>
                  </a:txBody>
                  <a:tcPr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57200">
                <a:tc>
                  <a:txBody>
                    <a:bodyPr/>
                    <a:lstStyle/>
                    <a:p>
                      <a:pPr marL="0" indent="0">
                        <a:buNone/>
                      </a:pPr>
                      <a:r>
                        <a:rPr lang="en-US" sz="1400" b="1" dirty="0">
                          <a:solidFill>
                            <a:schemeClr val="tx1"/>
                          </a:solidFill>
                        </a:rPr>
                        <a:t>-er / -est</a:t>
                      </a:r>
                      <a:endParaRPr lang="en-US" sz="1400" dirty="0"/>
                    </a:p>
                  </a:txBody>
                  <a:tcPr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comparison</a:t>
                      </a:r>
                      <a:endParaRPr lang="en-US" sz="1400" dirty="0"/>
                    </a:p>
                  </a:txBody>
                  <a:tcPr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big → bigger</a:t>
                      </a:r>
                      <a:endParaRPr lang="en-US" sz="1400" dirty="0"/>
                    </a:p>
                  </a:txBody>
                  <a:tcPr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lIns="0" tIns="0" rIns="0" bIns="0" rtlCol="0" anchor="ctr"/>
          <a:lstStyle/>
          <a:p>
            <a:pPr marL="0" indent="0">
              <a:buNone/>
            </a:pPr>
            <a:r>
              <a:rPr lang="en-US" sz="3600" b="1" dirty="0">
                <a:solidFill>
                  <a:schemeClr val="tx2"/>
                </a:solidFill>
              </a:rPr>
              <a:t>Derivational morphology</a:t>
            </a:r>
            <a:endParaRPr lang="en-US" sz="3600" dirty="0"/>
          </a:p>
        </p:txBody>
      </p:sp>
      <p:sp>
        <p:nvSpPr>
          <p:cNvPr id="4" name="Text 1"/>
          <p:cNvSpPr txBox="1"/>
          <p:nvPr/>
        </p:nvSpPr>
        <p:spPr>
          <a:xfrm>
            <a:off x="548640" y="1325880"/>
            <a:ext cx="3749040"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Creates a new word (new lexeme)</a:t>
            </a:r>
            <a:endParaRPr lang="en-US" sz="1600" dirty="0"/>
          </a:p>
          <a:p>
            <a:pPr marL="342900" indent="-342900">
              <a:spcAft>
                <a:spcPts val="800"/>
              </a:spcAft>
              <a:buSzPct val="100000"/>
              <a:buChar char="•"/>
            </a:pPr>
            <a:r>
              <a:rPr lang="en-US" sz="1600" dirty="0">
                <a:solidFill>
                  <a:schemeClr val="tx1"/>
                </a:solidFill>
              </a:rPr>
              <a:t>Often changes the word class</a:t>
            </a:r>
            <a:endParaRPr lang="en-US" sz="1600" dirty="0"/>
          </a:p>
          <a:p>
            <a:pPr marL="342900" indent="-342900">
              <a:spcAft>
                <a:spcPts val="800"/>
              </a:spcAft>
              <a:buSzPct val="100000"/>
              <a:buChar char="•"/>
            </a:pPr>
            <a:r>
              <a:rPr lang="en-US" sz="1600" dirty="0">
                <a:solidFill>
                  <a:schemeClr val="tx1"/>
                </a:solidFill>
              </a:rPr>
              <a:t>Meaning can shift or drift</a:t>
            </a:r>
            <a:endParaRPr lang="en-US" sz="1600" dirty="0"/>
          </a:p>
          <a:p>
            <a:pPr marL="342900" indent="-342900">
              <a:spcAft>
                <a:spcPts val="800"/>
              </a:spcAft>
              <a:buSzPct val="100000"/>
              <a:buChar char="•"/>
            </a:pPr>
            <a:r>
              <a:rPr lang="en-US" sz="1600" dirty="0">
                <a:solidFill>
                  <a:schemeClr val="tx1"/>
                </a:solidFill>
              </a:rPr>
              <a:t>Selective: many gaps and exceptions</a:t>
            </a:r>
            <a:endParaRPr lang="en-US" sz="1600" dirty="0"/>
          </a:p>
        </p:txBody>
      </p:sp>
      <p:sp>
        <p:nvSpPr>
          <p:cNvPr id="5" name="Class change 1"/>
          <p:cNvSpPr/>
          <p:nvPr/>
        </p:nvSpPr>
        <p:spPr>
          <a:xfrm>
            <a:off x="4572000" y="1325880"/>
            <a:ext cx="1965960" cy="1417320"/>
          </a:xfrm>
          <a:prstGeom prst="roundRect">
            <a:avLst>
              <a:gd name="adj" fmla="val 6452"/>
            </a:avLst>
          </a:prstGeom>
          <a:solidFill>
            <a:schemeClr val="accent2"/>
          </a:solidFill>
          <a:ln/>
        </p:spPr>
        <p:txBody>
          <a:bodyPr/>
          <a:lstStyle/>
          <a:p>
            <a:endParaRPr lang="en-IN"/>
          </a:p>
        </p:txBody>
      </p:sp>
      <p:sp>
        <p:nvSpPr>
          <p:cNvPr id="6" name="Text 3"/>
          <p:cNvSpPr txBox="1"/>
          <p:nvPr/>
        </p:nvSpPr>
        <p:spPr>
          <a:xfrm>
            <a:off x="4663440" y="1325880"/>
            <a:ext cx="1783080" cy="1417320"/>
          </a:xfrm>
          <a:prstGeom prst="rect">
            <a:avLst/>
          </a:prstGeom>
          <a:noFill/>
          <a:ln/>
        </p:spPr>
        <p:txBody>
          <a:bodyPr wrap="square" lIns="0" tIns="0" rIns="0" bIns="0" rtlCol="0" anchor="ctr"/>
          <a:lstStyle/>
          <a:p>
            <a:pPr marL="0" indent="0" algn="ctr">
              <a:buNone/>
            </a:pPr>
            <a:r>
              <a:rPr lang="en-US" sz="1400" dirty="0">
                <a:solidFill>
                  <a:schemeClr val="bg1"/>
                </a:solidFill>
              </a:rPr>
              <a:t>verb → noun</a:t>
            </a:r>
            <a:endParaRPr lang="en-US" sz="1400" dirty="0"/>
          </a:p>
          <a:p>
            <a:pPr marL="0" indent="0" algn="ctr">
              <a:buNone/>
            </a:pPr>
            <a:r>
              <a:rPr lang="en-US" sz="1600" b="1" dirty="0">
                <a:solidFill>
                  <a:schemeClr val="bg1"/>
                </a:solidFill>
              </a:rPr>
              <a:t>teach → teacher</a:t>
            </a:r>
            <a:endParaRPr lang="en-US" sz="1400" dirty="0"/>
          </a:p>
        </p:txBody>
      </p:sp>
      <p:sp>
        <p:nvSpPr>
          <p:cNvPr id="7" name="Class change 2"/>
          <p:cNvSpPr/>
          <p:nvPr/>
        </p:nvSpPr>
        <p:spPr>
          <a:xfrm>
            <a:off x="6629400" y="1325880"/>
            <a:ext cx="1965960" cy="1417320"/>
          </a:xfrm>
          <a:prstGeom prst="roundRect">
            <a:avLst>
              <a:gd name="adj" fmla="val 6452"/>
            </a:avLst>
          </a:prstGeom>
          <a:solidFill>
            <a:schemeClr val="accent2"/>
          </a:solidFill>
          <a:ln/>
        </p:spPr>
        <p:txBody>
          <a:bodyPr/>
          <a:lstStyle/>
          <a:p>
            <a:endParaRPr lang="en-IN"/>
          </a:p>
        </p:txBody>
      </p:sp>
      <p:sp>
        <p:nvSpPr>
          <p:cNvPr id="8" name="Text 5"/>
          <p:cNvSpPr txBox="1"/>
          <p:nvPr/>
        </p:nvSpPr>
        <p:spPr>
          <a:xfrm>
            <a:off x="6720840" y="1325880"/>
            <a:ext cx="1783080" cy="1417320"/>
          </a:xfrm>
          <a:prstGeom prst="rect">
            <a:avLst/>
          </a:prstGeom>
          <a:noFill/>
          <a:ln/>
        </p:spPr>
        <p:txBody>
          <a:bodyPr wrap="square" lIns="0" tIns="0" rIns="0" bIns="0" rtlCol="0" anchor="ctr"/>
          <a:lstStyle/>
          <a:p>
            <a:pPr marL="0" indent="0" algn="ctr">
              <a:buNone/>
            </a:pPr>
            <a:r>
              <a:rPr lang="en-US" sz="1400" dirty="0">
                <a:solidFill>
                  <a:schemeClr val="bg1"/>
                </a:solidFill>
              </a:rPr>
              <a:t>adj → noun</a:t>
            </a:r>
            <a:endParaRPr lang="en-US" sz="1400" dirty="0"/>
          </a:p>
          <a:p>
            <a:pPr marL="0" indent="0" algn="ctr">
              <a:buNone/>
            </a:pPr>
            <a:r>
              <a:rPr lang="en-US" sz="1600" b="1" dirty="0">
                <a:solidFill>
                  <a:schemeClr val="bg1"/>
                </a:solidFill>
              </a:rPr>
              <a:t>happy → happiness</a:t>
            </a:r>
            <a:endParaRPr lang="en-US" sz="1400" dirty="0"/>
          </a:p>
        </p:txBody>
      </p:sp>
      <p:sp>
        <p:nvSpPr>
          <p:cNvPr id="9" name="Class change 3"/>
          <p:cNvSpPr/>
          <p:nvPr/>
        </p:nvSpPr>
        <p:spPr>
          <a:xfrm>
            <a:off x="4572000" y="2880360"/>
            <a:ext cx="1965960" cy="1417320"/>
          </a:xfrm>
          <a:prstGeom prst="roundRect">
            <a:avLst>
              <a:gd name="adj" fmla="val 6452"/>
            </a:avLst>
          </a:prstGeom>
          <a:solidFill>
            <a:schemeClr val="accent2"/>
          </a:solidFill>
          <a:ln/>
        </p:spPr>
        <p:txBody>
          <a:bodyPr/>
          <a:lstStyle/>
          <a:p>
            <a:endParaRPr lang="en-IN"/>
          </a:p>
        </p:txBody>
      </p:sp>
      <p:sp>
        <p:nvSpPr>
          <p:cNvPr id="10" name="Text 7"/>
          <p:cNvSpPr txBox="1"/>
          <p:nvPr/>
        </p:nvSpPr>
        <p:spPr>
          <a:xfrm>
            <a:off x="4663440" y="2880360"/>
            <a:ext cx="1783080" cy="1417320"/>
          </a:xfrm>
          <a:prstGeom prst="rect">
            <a:avLst/>
          </a:prstGeom>
          <a:noFill/>
          <a:ln/>
        </p:spPr>
        <p:txBody>
          <a:bodyPr wrap="square" lIns="0" tIns="0" rIns="0" bIns="0" rtlCol="0" anchor="ctr"/>
          <a:lstStyle/>
          <a:p>
            <a:pPr marL="0" indent="0" algn="ctr">
              <a:buNone/>
            </a:pPr>
            <a:r>
              <a:rPr lang="en-US" sz="1400" dirty="0">
                <a:solidFill>
                  <a:schemeClr val="bg1"/>
                </a:solidFill>
              </a:rPr>
              <a:t>noun → adj</a:t>
            </a:r>
            <a:endParaRPr lang="en-US" sz="1400" dirty="0"/>
          </a:p>
          <a:p>
            <a:pPr marL="0" indent="0" algn="ctr">
              <a:buNone/>
            </a:pPr>
            <a:r>
              <a:rPr lang="en-US" sz="1600" b="1" dirty="0">
                <a:solidFill>
                  <a:schemeClr val="bg1"/>
                </a:solidFill>
              </a:rPr>
              <a:t>care → careful</a:t>
            </a:r>
            <a:endParaRPr lang="en-US" sz="1400" dirty="0"/>
          </a:p>
        </p:txBody>
      </p:sp>
      <p:sp>
        <p:nvSpPr>
          <p:cNvPr id="11" name="Class change 4"/>
          <p:cNvSpPr/>
          <p:nvPr/>
        </p:nvSpPr>
        <p:spPr>
          <a:xfrm>
            <a:off x="6629400" y="2880360"/>
            <a:ext cx="1965960" cy="1417320"/>
          </a:xfrm>
          <a:prstGeom prst="roundRect">
            <a:avLst>
              <a:gd name="adj" fmla="val 6452"/>
            </a:avLst>
          </a:prstGeom>
          <a:solidFill>
            <a:schemeClr val="accent2"/>
          </a:solidFill>
          <a:ln/>
        </p:spPr>
        <p:txBody>
          <a:bodyPr/>
          <a:lstStyle/>
          <a:p>
            <a:endParaRPr lang="en-IN"/>
          </a:p>
        </p:txBody>
      </p:sp>
      <p:sp>
        <p:nvSpPr>
          <p:cNvPr id="12" name="Text 9"/>
          <p:cNvSpPr txBox="1"/>
          <p:nvPr/>
        </p:nvSpPr>
        <p:spPr>
          <a:xfrm>
            <a:off x="6720840" y="2880360"/>
            <a:ext cx="1783080" cy="1417320"/>
          </a:xfrm>
          <a:prstGeom prst="rect">
            <a:avLst/>
          </a:prstGeom>
          <a:noFill/>
          <a:ln/>
        </p:spPr>
        <p:txBody>
          <a:bodyPr wrap="square" lIns="0" tIns="0" rIns="0" bIns="0" rtlCol="0" anchor="ctr"/>
          <a:lstStyle/>
          <a:p>
            <a:pPr marL="0" indent="0" algn="ctr">
              <a:buNone/>
            </a:pPr>
            <a:r>
              <a:rPr lang="en-US" sz="1400" dirty="0">
                <a:solidFill>
                  <a:schemeClr val="bg1"/>
                </a:solidFill>
              </a:rPr>
              <a:t>adj → verb</a:t>
            </a:r>
            <a:endParaRPr lang="en-US" sz="1400" dirty="0"/>
          </a:p>
          <a:p>
            <a:pPr marL="0" indent="0" algn="ctr">
              <a:buNone/>
            </a:pPr>
            <a:r>
              <a:rPr lang="en-US" sz="1600" b="1" dirty="0">
                <a:solidFill>
                  <a:schemeClr val="bg1"/>
                </a:solidFill>
              </a:rPr>
              <a:t>active → activate</a:t>
            </a:r>
            <a:endParaRPr lang="en-US" sz="14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lIns="0" tIns="0" rIns="0" bIns="0" rtlCol="0" anchor="ctr"/>
          <a:lstStyle/>
          <a:p>
            <a:pPr marL="0" indent="0">
              <a:buNone/>
            </a:pPr>
            <a:r>
              <a:rPr lang="en-US" sz="3600" b="1" dirty="0">
                <a:solidFill>
                  <a:schemeClr val="tx2"/>
                </a:solidFill>
              </a:rPr>
              <a:t>Side-by-side comparison</a:t>
            </a:r>
            <a:endParaRPr lang="en-US" sz="3600" dirty="0"/>
          </a:p>
        </p:txBody>
      </p:sp>
      <p:graphicFrame>
        <p:nvGraphicFramePr>
          <p:cNvPr id="6" name="Comparison table"/>
          <p:cNvGraphicFramePr>
            <a:graphicFrameLocks noGrp="1"/>
          </p:cNvGraphicFramePr>
          <p:nvPr>
            <p:extLst>
              <p:ext uri="{D42A27DB-BD31-4B8C-83A1-F6EECF244321}">
                <p14:modId xmlns:p14="http://schemas.microsoft.com/office/powerpoint/2010/main" val="1579011935"/>
              </p:ext>
            </p:extLst>
          </p:nvPr>
        </p:nvGraphicFramePr>
        <p:xfrm>
          <a:off x="548640" y="1234440"/>
          <a:ext cx="8046720" cy="2944368"/>
        </p:xfrm>
        <a:graphic>
          <a:graphicData uri="http://schemas.openxmlformats.org/drawingml/2006/table">
            <a:tbl>
              <a:tblPr/>
              <a:tblGrid>
                <a:gridCol w="155448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tblGrid>
              <a:tr h="420624">
                <a:tc>
                  <a:txBody>
                    <a:bodyPr/>
                    <a:lstStyle/>
                    <a:p>
                      <a:pPr marL="0" indent="0">
                        <a:buNone/>
                      </a:pPr>
                      <a:r>
                        <a:rPr lang="en-US" sz="1600" b="1" dirty="0">
                          <a:solidFill>
                            <a:schemeClr val="bg1"/>
                          </a:solidFill>
                        </a:rPr>
                        <a:t>Aspect</a:t>
                      </a:r>
                      <a:endParaRPr lang="en-US" sz="16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tx2"/>
                    </a:solidFill>
                  </a:tcPr>
                </a:tc>
                <a:tc>
                  <a:txBody>
                    <a:bodyPr/>
                    <a:lstStyle/>
                    <a:p>
                      <a:pPr marL="0" indent="0">
                        <a:buNone/>
                      </a:pPr>
                      <a:r>
                        <a:rPr lang="en-US" sz="1600" b="1" dirty="0">
                          <a:solidFill>
                            <a:schemeClr val="bg1"/>
                          </a:solidFill>
                        </a:rPr>
                        <a:t>Inflectional</a:t>
                      </a:r>
                      <a:endParaRPr lang="en-US" sz="16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accent1"/>
                    </a:solidFill>
                  </a:tcPr>
                </a:tc>
                <a:tc>
                  <a:txBody>
                    <a:bodyPr/>
                    <a:lstStyle/>
                    <a:p>
                      <a:pPr marL="0" indent="0">
                        <a:buNone/>
                      </a:pPr>
                      <a:r>
                        <a:rPr lang="en-US" sz="1600" b="1" dirty="0">
                          <a:solidFill>
                            <a:schemeClr val="bg1"/>
                          </a:solidFill>
                        </a:rPr>
                        <a:t>Derivational</a:t>
                      </a:r>
                      <a:endParaRPr lang="en-US" sz="16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420624">
                <a:tc>
                  <a:txBody>
                    <a:bodyPr/>
                    <a:lstStyle/>
                    <a:p>
                      <a:pPr marL="0" indent="0">
                        <a:buNone/>
                      </a:pPr>
                      <a:r>
                        <a:rPr lang="en-US" sz="1400" b="1" dirty="0">
                          <a:solidFill>
                            <a:schemeClr val="tx1"/>
                          </a:solidFill>
                        </a:rPr>
                        <a:t>Purpose</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Marks tense, number, case</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Builds new words</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20624">
                <a:tc>
                  <a:txBody>
                    <a:bodyPr/>
                    <a:lstStyle/>
                    <a:p>
                      <a:pPr marL="0" indent="0">
                        <a:buNone/>
                      </a:pPr>
                      <a:r>
                        <a:rPr lang="en-US" sz="1400" b="1" dirty="0">
                          <a:solidFill>
                            <a:schemeClr val="tx1"/>
                          </a:solidFill>
                        </a:rPr>
                        <a:t>Word class</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Unchanged: walk → walked</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Often changes: teach → teacher</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20624">
                <a:tc>
                  <a:txBody>
                    <a:bodyPr/>
                    <a:lstStyle/>
                    <a:p>
                      <a:pPr marL="0" indent="0">
                        <a:buNone/>
                      </a:pPr>
                      <a:r>
                        <a:rPr lang="en-US" sz="1400" b="1" dirty="0">
                          <a:solidFill>
                            <a:schemeClr val="tx1"/>
                          </a:solidFill>
                        </a:rPr>
                        <a:t>Meaning</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Core meaning unchanged</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New or shifted meaning</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20624">
                <a:tc>
                  <a:txBody>
                    <a:bodyPr/>
                    <a:lstStyle/>
                    <a:p>
                      <a:pPr marL="0" indent="0">
                        <a:buNone/>
                      </a:pPr>
                      <a:r>
                        <a:rPr lang="en-US" sz="1400" b="1" dirty="0">
                          <a:solidFill>
                            <a:schemeClr val="tx1"/>
                          </a:solidFill>
                        </a:rPr>
                        <a:t>Productivity</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Regular, applies broadly</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Selective, many exceptions</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20624">
                <a:tc>
                  <a:txBody>
                    <a:bodyPr/>
                    <a:lstStyle/>
                    <a:p>
                      <a:pPr marL="0" indent="0">
                        <a:buNone/>
                      </a:pPr>
                      <a:r>
                        <a:rPr lang="en-US" sz="1400" b="1" dirty="0">
                          <a:solidFill>
                            <a:schemeClr val="tx1"/>
                          </a:solidFill>
                        </a:rPr>
                        <a:t>Affix order</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Outer layer (teach-er-s)</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Inner layer (teach-er)</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420624">
                <a:tc>
                  <a:txBody>
                    <a:bodyPr/>
                    <a:lstStyle/>
                    <a:p>
                      <a:pPr marL="0" indent="0">
                        <a:buNone/>
                      </a:pPr>
                      <a:r>
                        <a:rPr lang="en-US" sz="1400" b="1" dirty="0">
                          <a:solidFill>
                            <a:schemeClr val="tx1"/>
                          </a:solidFill>
                        </a:rPr>
                        <a:t>Examples</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 -ed, -ing, -est</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-ness, -able, un-, re-</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5" name="Text 1"/>
          <p:cNvSpPr txBox="1"/>
          <p:nvPr/>
        </p:nvSpPr>
        <p:spPr>
          <a:xfrm>
            <a:off x="548640" y="4343400"/>
            <a:ext cx="7498080" cy="320040"/>
          </a:xfrm>
          <a:prstGeom prst="rect">
            <a:avLst/>
          </a:prstGeom>
          <a:noFill/>
          <a:ln/>
        </p:spPr>
        <p:txBody>
          <a:bodyPr wrap="square" lIns="0" tIns="0" rIns="0" bIns="0" rtlCol="0" anchor="ctr"/>
          <a:lstStyle/>
          <a:p>
            <a:pPr marL="0" indent="0">
              <a:buNone/>
            </a:pPr>
            <a:r>
              <a:rPr lang="en-US" sz="1400" i="1" dirty="0">
                <a:solidFill>
                  <a:schemeClr val="tx2"/>
                </a:solidFill>
              </a:rPr>
              <a:t>Rule of thumb: inflection changes the form, derivation changes the word.</a:t>
            </a:r>
            <a:endParaRPr lang="en-US" sz="14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lIns="0" tIns="0" rIns="0" bIns="0" rtlCol="0" anchor="ctr"/>
          <a:lstStyle/>
          <a:p>
            <a:pPr marL="0" indent="0">
              <a:buNone/>
            </a:pPr>
            <a:r>
              <a:rPr lang="en-US" sz="3600" b="1" dirty="0">
                <a:solidFill>
                  <a:schemeClr val="tx2"/>
                </a:solidFill>
              </a:rPr>
              <a:t>How they combine</a:t>
            </a:r>
            <a:endParaRPr lang="en-US" sz="3600" dirty="0"/>
          </a:p>
        </p:txBody>
      </p:sp>
      <p:sp>
        <p:nvSpPr>
          <p:cNvPr id="4" name="Chip teach"/>
          <p:cNvSpPr/>
          <p:nvPr/>
        </p:nvSpPr>
        <p:spPr>
          <a:xfrm>
            <a:off x="2331720" y="1371600"/>
            <a:ext cx="1188720" cy="731520"/>
          </a:xfrm>
          <a:prstGeom prst="roundRect">
            <a:avLst>
              <a:gd name="adj" fmla="val 12500"/>
            </a:avLst>
          </a:prstGeom>
          <a:solidFill>
            <a:schemeClr val="tx2"/>
          </a:solidFill>
          <a:ln/>
        </p:spPr>
        <p:txBody>
          <a:bodyPr/>
          <a:lstStyle/>
          <a:p>
            <a:endParaRPr lang="en-IN"/>
          </a:p>
        </p:txBody>
      </p:sp>
      <p:sp>
        <p:nvSpPr>
          <p:cNvPr id="5" name="Text 2"/>
          <p:cNvSpPr txBox="1"/>
          <p:nvPr/>
        </p:nvSpPr>
        <p:spPr>
          <a:xfrm>
            <a:off x="2331720" y="1371600"/>
            <a:ext cx="1188720" cy="731520"/>
          </a:xfrm>
          <a:prstGeom prst="rect">
            <a:avLst/>
          </a:prstGeom>
          <a:noFill/>
          <a:ln/>
        </p:spPr>
        <p:txBody>
          <a:bodyPr wrap="square" lIns="0" tIns="0" rIns="0" bIns="0" rtlCol="0" anchor="ctr"/>
          <a:lstStyle/>
          <a:p>
            <a:pPr marL="0" indent="0" algn="ctr">
              <a:buNone/>
            </a:pPr>
            <a:r>
              <a:rPr lang="en-US" sz="2000" b="1" dirty="0">
                <a:solidFill>
                  <a:schemeClr val="bg1"/>
                </a:solidFill>
              </a:rPr>
              <a:t>teach</a:t>
            </a:r>
            <a:endParaRPr lang="en-US" sz="2000" dirty="0"/>
          </a:p>
        </p:txBody>
      </p:sp>
      <p:sp>
        <p:nvSpPr>
          <p:cNvPr id="6" name="Text 3"/>
          <p:cNvSpPr txBox="1"/>
          <p:nvPr/>
        </p:nvSpPr>
        <p:spPr>
          <a:xfrm>
            <a:off x="3520440" y="1371600"/>
            <a:ext cx="457200" cy="731520"/>
          </a:xfrm>
          <a:prstGeom prst="rect">
            <a:avLst/>
          </a:prstGeom>
          <a:noFill/>
          <a:ln/>
        </p:spPr>
        <p:txBody>
          <a:bodyPr wrap="square" lIns="0" tIns="0" rIns="0" bIns="0" rtlCol="0" anchor="ctr"/>
          <a:lstStyle/>
          <a:p>
            <a:pPr marL="0" indent="0" algn="ctr">
              <a:buNone/>
            </a:pPr>
            <a:r>
              <a:rPr lang="en-US" sz="2400" b="1" dirty="0">
                <a:solidFill>
                  <a:schemeClr val="tx2"/>
                </a:solidFill>
              </a:rPr>
              <a:t>+</a:t>
            </a:r>
            <a:endParaRPr lang="en-US" sz="2400" dirty="0"/>
          </a:p>
        </p:txBody>
      </p:sp>
      <p:sp>
        <p:nvSpPr>
          <p:cNvPr id="7" name="Chip -er"/>
          <p:cNvSpPr/>
          <p:nvPr/>
        </p:nvSpPr>
        <p:spPr>
          <a:xfrm>
            <a:off x="3977640" y="1371600"/>
            <a:ext cx="1188720" cy="731520"/>
          </a:xfrm>
          <a:prstGeom prst="roundRect">
            <a:avLst>
              <a:gd name="adj" fmla="val 12500"/>
            </a:avLst>
          </a:prstGeom>
          <a:solidFill>
            <a:schemeClr val="accent2"/>
          </a:solidFill>
          <a:ln/>
        </p:spPr>
        <p:txBody>
          <a:bodyPr/>
          <a:lstStyle/>
          <a:p>
            <a:endParaRPr lang="en-IN"/>
          </a:p>
        </p:txBody>
      </p:sp>
      <p:sp>
        <p:nvSpPr>
          <p:cNvPr id="8" name="Text 5"/>
          <p:cNvSpPr txBox="1"/>
          <p:nvPr/>
        </p:nvSpPr>
        <p:spPr>
          <a:xfrm>
            <a:off x="3977640" y="1371600"/>
            <a:ext cx="1188720" cy="731520"/>
          </a:xfrm>
          <a:prstGeom prst="rect">
            <a:avLst/>
          </a:prstGeom>
          <a:noFill/>
          <a:ln/>
        </p:spPr>
        <p:txBody>
          <a:bodyPr wrap="square" lIns="0" tIns="0" rIns="0" bIns="0" rtlCol="0" anchor="ctr"/>
          <a:lstStyle/>
          <a:p>
            <a:pPr marL="0" indent="0" algn="ctr">
              <a:buNone/>
            </a:pPr>
            <a:r>
              <a:rPr lang="en-US" sz="2000" b="1" dirty="0">
                <a:solidFill>
                  <a:schemeClr val="bg1"/>
                </a:solidFill>
              </a:rPr>
              <a:t>-er</a:t>
            </a:r>
            <a:endParaRPr lang="en-US" sz="2000" dirty="0"/>
          </a:p>
        </p:txBody>
      </p:sp>
      <p:sp>
        <p:nvSpPr>
          <p:cNvPr id="9" name="Text 6"/>
          <p:cNvSpPr txBox="1"/>
          <p:nvPr/>
        </p:nvSpPr>
        <p:spPr>
          <a:xfrm>
            <a:off x="5166360" y="1371600"/>
            <a:ext cx="457200" cy="731520"/>
          </a:xfrm>
          <a:prstGeom prst="rect">
            <a:avLst/>
          </a:prstGeom>
          <a:noFill/>
          <a:ln/>
        </p:spPr>
        <p:txBody>
          <a:bodyPr wrap="square" lIns="0" tIns="0" rIns="0" bIns="0" rtlCol="0" anchor="ctr"/>
          <a:lstStyle/>
          <a:p>
            <a:pPr marL="0" indent="0" algn="ctr">
              <a:buNone/>
            </a:pPr>
            <a:r>
              <a:rPr lang="en-US" sz="2400" b="1" dirty="0">
                <a:solidFill>
                  <a:schemeClr val="tx2"/>
                </a:solidFill>
              </a:rPr>
              <a:t>+</a:t>
            </a:r>
            <a:endParaRPr lang="en-US" sz="2400" dirty="0"/>
          </a:p>
        </p:txBody>
      </p:sp>
      <p:sp>
        <p:nvSpPr>
          <p:cNvPr id="10" name="Chip -s"/>
          <p:cNvSpPr/>
          <p:nvPr/>
        </p:nvSpPr>
        <p:spPr>
          <a:xfrm>
            <a:off x="5623560" y="1371600"/>
            <a:ext cx="1188720" cy="731520"/>
          </a:xfrm>
          <a:prstGeom prst="roundRect">
            <a:avLst>
              <a:gd name="adj" fmla="val 12500"/>
            </a:avLst>
          </a:prstGeom>
          <a:solidFill>
            <a:schemeClr val="accent1"/>
          </a:solidFill>
          <a:ln/>
        </p:spPr>
        <p:txBody>
          <a:bodyPr/>
          <a:lstStyle/>
          <a:p>
            <a:endParaRPr lang="en-IN"/>
          </a:p>
        </p:txBody>
      </p:sp>
      <p:sp>
        <p:nvSpPr>
          <p:cNvPr id="11" name="Text 8"/>
          <p:cNvSpPr txBox="1"/>
          <p:nvPr/>
        </p:nvSpPr>
        <p:spPr>
          <a:xfrm>
            <a:off x="5623560" y="1371600"/>
            <a:ext cx="1188720" cy="731520"/>
          </a:xfrm>
          <a:prstGeom prst="rect">
            <a:avLst/>
          </a:prstGeom>
          <a:noFill/>
          <a:ln/>
        </p:spPr>
        <p:txBody>
          <a:bodyPr wrap="square" lIns="0" tIns="0" rIns="0" bIns="0" rtlCol="0" anchor="ctr"/>
          <a:lstStyle/>
          <a:p>
            <a:pPr marL="0" indent="0" algn="ctr">
              <a:buNone/>
            </a:pPr>
            <a:r>
              <a:rPr lang="en-US" sz="2000" b="1" dirty="0">
                <a:solidFill>
                  <a:schemeClr val="bg1"/>
                </a:solidFill>
              </a:rPr>
              <a:t>-s</a:t>
            </a:r>
            <a:endParaRPr lang="en-US" sz="2000" dirty="0"/>
          </a:p>
        </p:txBody>
      </p:sp>
      <p:sp>
        <p:nvSpPr>
          <p:cNvPr id="12" name="Text 9"/>
          <p:cNvSpPr txBox="1"/>
          <p:nvPr/>
        </p:nvSpPr>
        <p:spPr>
          <a:xfrm>
            <a:off x="548640" y="2148840"/>
            <a:ext cx="8046720" cy="320040"/>
          </a:xfrm>
          <a:prstGeom prst="rect">
            <a:avLst/>
          </a:prstGeom>
          <a:noFill/>
          <a:ln/>
        </p:spPr>
        <p:txBody>
          <a:bodyPr wrap="square" lIns="0" tIns="0" rIns="0" bIns="0" rtlCol="0" anchor="ctr"/>
          <a:lstStyle/>
          <a:p>
            <a:pPr marL="0" indent="0" algn="ctr">
              <a:buNone/>
            </a:pPr>
            <a:r>
              <a:rPr lang="en-US" sz="1600" i="1" dirty="0">
                <a:solidFill>
                  <a:schemeClr val="tx2"/>
                </a:solidFill>
              </a:rPr>
              <a:t>= teachers</a:t>
            </a:r>
            <a:endParaRPr lang="en-US" sz="1600" dirty="0"/>
          </a:p>
        </p:txBody>
      </p:sp>
      <p:sp>
        <p:nvSpPr>
          <p:cNvPr id="13" name="Chip nation"/>
          <p:cNvSpPr/>
          <p:nvPr/>
        </p:nvSpPr>
        <p:spPr>
          <a:xfrm>
            <a:off x="685800" y="2743200"/>
            <a:ext cx="1188720" cy="731520"/>
          </a:xfrm>
          <a:prstGeom prst="roundRect">
            <a:avLst>
              <a:gd name="adj" fmla="val 12500"/>
            </a:avLst>
          </a:prstGeom>
          <a:solidFill>
            <a:schemeClr val="tx2"/>
          </a:solidFill>
          <a:ln/>
        </p:spPr>
        <p:txBody>
          <a:bodyPr/>
          <a:lstStyle/>
          <a:p>
            <a:endParaRPr lang="en-IN"/>
          </a:p>
        </p:txBody>
      </p:sp>
      <p:sp>
        <p:nvSpPr>
          <p:cNvPr id="14" name="Text 11"/>
          <p:cNvSpPr txBox="1"/>
          <p:nvPr/>
        </p:nvSpPr>
        <p:spPr>
          <a:xfrm>
            <a:off x="685800" y="2743200"/>
            <a:ext cx="1188720" cy="731520"/>
          </a:xfrm>
          <a:prstGeom prst="rect">
            <a:avLst/>
          </a:prstGeom>
          <a:noFill/>
          <a:ln/>
        </p:spPr>
        <p:txBody>
          <a:bodyPr wrap="square" lIns="0" tIns="0" rIns="0" bIns="0" rtlCol="0" anchor="ctr"/>
          <a:lstStyle/>
          <a:p>
            <a:pPr marL="0" indent="0" algn="ctr">
              <a:buNone/>
            </a:pPr>
            <a:r>
              <a:rPr lang="en-US" sz="2000" b="1" dirty="0">
                <a:solidFill>
                  <a:schemeClr val="bg1"/>
                </a:solidFill>
              </a:rPr>
              <a:t>nation</a:t>
            </a:r>
            <a:endParaRPr lang="en-US" sz="2000" dirty="0"/>
          </a:p>
        </p:txBody>
      </p:sp>
      <p:sp>
        <p:nvSpPr>
          <p:cNvPr id="15" name="Text 12"/>
          <p:cNvSpPr txBox="1"/>
          <p:nvPr/>
        </p:nvSpPr>
        <p:spPr>
          <a:xfrm>
            <a:off x="1874520" y="2743200"/>
            <a:ext cx="457200" cy="731520"/>
          </a:xfrm>
          <a:prstGeom prst="rect">
            <a:avLst/>
          </a:prstGeom>
          <a:noFill/>
          <a:ln/>
        </p:spPr>
        <p:txBody>
          <a:bodyPr wrap="square" lIns="0" tIns="0" rIns="0" bIns="0" rtlCol="0" anchor="ctr"/>
          <a:lstStyle/>
          <a:p>
            <a:pPr marL="0" indent="0" algn="ctr">
              <a:buNone/>
            </a:pPr>
            <a:r>
              <a:rPr lang="en-US" sz="2400" b="1" dirty="0">
                <a:solidFill>
                  <a:schemeClr val="tx2"/>
                </a:solidFill>
              </a:rPr>
              <a:t>+</a:t>
            </a:r>
            <a:endParaRPr lang="en-US" sz="2400" dirty="0"/>
          </a:p>
        </p:txBody>
      </p:sp>
      <p:sp>
        <p:nvSpPr>
          <p:cNvPr id="16" name="Chip -al"/>
          <p:cNvSpPr/>
          <p:nvPr/>
        </p:nvSpPr>
        <p:spPr>
          <a:xfrm>
            <a:off x="2331720" y="2743200"/>
            <a:ext cx="1188720" cy="731520"/>
          </a:xfrm>
          <a:prstGeom prst="roundRect">
            <a:avLst>
              <a:gd name="adj" fmla="val 12500"/>
            </a:avLst>
          </a:prstGeom>
          <a:solidFill>
            <a:schemeClr val="accent2"/>
          </a:solidFill>
          <a:ln/>
        </p:spPr>
        <p:txBody>
          <a:bodyPr/>
          <a:lstStyle/>
          <a:p>
            <a:endParaRPr lang="en-IN"/>
          </a:p>
        </p:txBody>
      </p:sp>
      <p:sp>
        <p:nvSpPr>
          <p:cNvPr id="17" name="Text 14"/>
          <p:cNvSpPr txBox="1"/>
          <p:nvPr/>
        </p:nvSpPr>
        <p:spPr>
          <a:xfrm>
            <a:off x="2331720" y="2743200"/>
            <a:ext cx="1188720" cy="731520"/>
          </a:xfrm>
          <a:prstGeom prst="rect">
            <a:avLst/>
          </a:prstGeom>
          <a:noFill/>
          <a:ln/>
        </p:spPr>
        <p:txBody>
          <a:bodyPr wrap="square" lIns="0" tIns="0" rIns="0" bIns="0" rtlCol="0" anchor="ctr"/>
          <a:lstStyle/>
          <a:p>
            <a:pPr marL="0" indent="0" algn="ctr">
              <a:buNone/>
            </a:pPr>
            <a:r>
              <a:rPr lang="en-US" sz="2000" b="1" dirty="0">
                <a:solidFill>
                  <a:schemeClr val="bg1"/>
                </a:solidFill>
              </a:rPr>
              <a:t>-al</a:t>
            </a:r>
            <a:endParaRPr lang="en-US" sz="2000" dirty="0"/>
          </a:p>
        </p:txBody>
      </p:sp>
      <p:sp>
        <p:nvSpPr>
          <p:cNvPr id="18" name="Text 15"/>
          <p:cNvSpPr txBox="1"/>
          <p:nvPr/>
        </p:nvSpPr>
        <p:spPr>
          <a:xfrm>
            <a:off x="3520440" y="2743200"/>
            <a:ext cx="457200" cy="731520"/>
          </a:xfrm>
          <a:prstGeom prst="rect">
            <a:avLst/>
          </a:prstGeom>
          <a:noFill/>
          <a:ln/>
        </p:spPr>
        <p:txBody>
          <a:bodyPr wrap="square" lIns="0" tIns="0" rIns="0" bIns="0" rtlCol="0" anchor="ctr"/>
          <a:lstStyle/>
          <a:p>
            <a:pPr marL="0" indent="0" algn="ctr">
              <a:buNone/>
            </a:pPr>
            <a:r>
              <a:rPr lang="en-US" sz="2400" b="1" dirty="0">
                <a:solidFill>
                  <a:schemeClr val="tx2"/>
                </a:solidFill>
              </a:rPr>
              <a:t>+</a:t>
            </a:r>
            <a:endParaRPr lang="en-US" sz="2400" dirty="0"/>
          </a:p>
        </p:txBody>
      </p:sp>
      <p:sp>
        <p:nvSpPr>
          <p:cNvPr id="19" name="Chip -ize"/>
          <p:cNvSpPr/>
          <p:nvPr/>
        </p:nvSpPr>
        <p:spPr>
          <a:xfrm>
            <a:off x="3977640" y="2743200"/>
            <a:ext cx="1188720" cy="731520"/>
          </a:xfrm>
          <a:prstGeom prst="roundRect">
            <a:avLst>
              <a:gd name="adj" fmla="val 12500"/>
            </a:avLst>
          </a:prstGeom>
          <a:solidFill>
            <a:schemeClr val="accent2"/>
          </a:solidFill>
          <a:ln/>
        </p:spPr>
        <p:txBody>
          <a:bodyPr/>
          <a:lstStyle/>
          <a:p>
            <a:endParaRPr lang="en-IN"/>
          </a:p>
        </p:txBody>
      </p:sp>
      <p:sp>
        <p:nvSpPr>
          <p:cNvPr id="20" name="Text 17"/>
          <p:cNvSpPr txBox="1"/>
          <p:nvPr/>
        </p:nvSpPr>
        <p:spPr>
          <a:xfrm>
            <a:off x="3977640" y="2743200"/>
            <a:ext cx="1188720" cy="731520"/>
          </a:xfrm>
          <a:prstGeom prst="rect">
            <a:avLst/>
          </a:prstGeom>
          <a:noFill/>
          <a:ln/>
        </p:spPr>
        <p:txBody>
          <a:bodyPr wrap="square" lIns="0" tIns="0" rIns="0" bIns="0" rtlCol="0" anchor="ctr"/>
          <a:lstStyle/>
          <a:p>
            <a:pPr marL="0" indent="0" algn="ctr">
              <a:buNone/>
            </a:pPr>
            <a:r>
              <a:rPr lang="en-US" sz="2000" b="1" dirty="0">
                <a:solidFill>
                  <a:schemeClr val="bg1"/>
                </a:solidFill>
              </a:rPr>
              <a:t>-ize</a:t>
            </a:r>
            <a:endParaRPr lang="en-US" sz="2000" dirty="0"/>
          </a:p>
        </p:txBody>
      </p:sp>
      <p:sp>
        <p:nvSpPr>
          <p:cNvPr id="21" name="Text 18"/>
          <p:cNvSpPr txBox="1"/>
          <p:nvPr/>
        </p:nvSpPr>
        <p:spPr>
          <a:xfrm>
            <a:off x="5166360" y="2743200"/>
            <a:ext cx="457200" cy="731520"/>
          </a:xfrm>
          <a:prstGeom prst="rect">
            <a:avLst/>
          </a:prstGeom>
          <a:noFill/>
          <a:ln/>
        </p:spPr>
        <p:txBody>
          <a:bodyPr wrap="square" lIns="0" tIns="0" rIns="0" bIns="0" rtlCol="0" anchor="ctr"/>
          <a:lstStyle/>
          <a:p>
            <a:pPr marL="0" indent="0" algn="ctr">
              <a:buNone/>
            </a:pPr>
            <a:r>
              <a:rPr lang="en-US" sz="2400" b="1" dirty="0">
                <a:solidFill>
                  <a:schemeClr val="tx2"/>
                </a:solidFill>
              </a:rPr>
              <a:t>+</a:t>
            </a:r>
            <a:endParaRPr lang="en-US" sz="2400" dirty="0"/>
          </a:p>
        </p:txBody>
      </p:sp>
      <p:sp>
        <p:nvSpPr>
          <p:cNvPr id="22" name="Chip -ation"/>
          <p:cNvSpPr/>
          <p:nvPr/>
        </p:nvSpPr>
        <p:spPr>
          <a:xfrm>
            <a:off x="5623560" y="2743200"/>
            <a:ext cx="1188720" cy="731520"/>
          </a:xfrm>
          <a:prstGeom prst="roundRect">
            <a:avLst>
              <a:gd name="adj" fmla="val 12500"/>
            </a:avLst>
          </a:prstGeom>
          <a:solidFill>
            <a:schemeClr val="accent2"/>
          </a:solidFill>
          <a:ln/>
        </p:spPr>
        <p:txBody>
          <a:bodyPr/>
          <a:lstStyle/>
          <a:p>
            <a:endParaRPr lang="en-IN"/>
          </a:p>
        </p:txBody>
      </p:sp>
      <p:sp>
        <p:nvSpPr>
          <p:cNvPr id="23" name="Text 20"/>
          <p:cNvSpPr txBox="1"/>
          <p:nvPr/>
        </p:nvSpPr>
        <p:spPr>
          <a:xfrm>
            <a:off x="5623560" y="2743200"/>
            <a:ext cx="1188720" cy="731520"/>
          </a:xfrm>
          <a:prstGeom prst="rect">
            <a:avLst/>
          </a:prstGeom>
          <a:noFill/>
          <a:ln/>
        </p:spPr>
        <p:txBody>
          <a:bodyPr wrap="square" lIns="0" tIns="0" rIns="0" bIns="0" rtlCol="0" anchor="ctr"/>
          <a:lstStyle/>
          <a:p>
            <a:pPr marL="0" indent="0" algn="ctr">
              <a:buNone/>
            </a:pPr>
            <a:r>
              <a:rPr lang="en-US" sz="2000" b="1" dirty="0">
                <a:solidFill>
                  <a:schemeClr val="bg1"/>
                </a:solidFill>
              </a:rPr>
              <a:t>-ation</a:t>
            </a:r>
            <a:endParaRPr lang="en-US" sz="2000" dirty="0"/>
          </a:p>
        </p:txBody>
      </p:sp>
      <p:sp>
        <p:nvSpPr>
          <p:cNvPr id="24" name="Text 21"/>
          <p:cNvSpPr txBox="1"/>
          <p:nvPr/>
        </p:nvSpPr>
        <p:spPr>
          <a:xfrm>
            <a:off x="6812280" y="2743200"/>
            <a:ext cx="457200" cy="731520"/>
          </a:xfrm>
          <a:prstGeom prst="rect">
            <a:avLst/>
          </a:prstGeom>
          <a:noFill/>
          <a:ln/>
        </p:spPr>
        <p:txBody>
          <a:bodyPr wrap="square" lIns="0" tIns="0" rIns="0" bIns="0" rtlCol="0" anchor="ctr"/>
          <a:lstStyle/>
          <a:p>
            <a:pPr marL="0" indent="0" algn="ctr">
              <a:buNone/>
            </a:pPr>
            <a:r>
              <a:rPr lang="en-US" sz="2400" b="1" dirty="0">
                <a:solidFill>
                  <a:schemeClr val="tx2"/>
                </a:solidFill>
              </a:rPr>
              <a:t>+</a:t>
            </a:r>
            <a:endParaRPr lang="en-US" sz="2400" dirty="0"/>
          </a:p>
        </p:txBody>
      </p:sp>
      <p:sp>
        <p:nvSpPr>
          <p:cNvPr id="25" name="Chip -s"/>
          <p:cNvSpPr/>
          <p:nvPr/>
        </p:nvSpPr>
        <p:spPr>
          <a:xfrm>
            <a:off x="7269480" y="2743200"/>
            <a:ext cx="1188720" cy="731520"/>
          </a:xfrm>
          <a:prstGeom prst="roundRect">
            <a:avLst>
              <a:gd name="adj" fmla="val 12500"/>
            </a:avLst>
          </a:prstGeom>
          <a:solidFill>
            <a:schemeClr val="accent1"/>
          </a:solidFill>
          <a:ln/>
        </p:spPr>
        <p:txBody>
          <a:bodyPr/>
          <a:lstStyle/>
          <a:p>
            <a:endParaRPr lang="en-IN"/>
          </a:p>
        </p:txBody>
      </p:sp>
      <p:sp>
        <p:nvSpPr>
          <p:cNvPr id="26" name="Text 23"/>
          <p:cNvSpPr txBox="1"/>
          <p:nvPr/>
        </p:nvSpPr>
        <p:spPr>
          <a:xfrm>
            <a:off x="7269480" y="2743200"/>
            <a:ext cx="1188720" cy="731520"/>
          </a:xfrm>
          <a:prstGeom prst="rect">
            <a:avLst/>
          </a:prstGeom>
          <a:noFill/>
          <a:ln/>
        </p:spPr>
        <p:txBody>
          <a:bodyPr wrap="square" lIns="0" tIns="0" rIns="0" bIns="0" rtlCol="0" anchor="ctr"/>
          <a:lstStyle/>
          <a:p>
            <a:pPr marL="0" indent="0" algn="ctr">
              <a:buNone/>
            </a:pPr>
            <a:r>
              <a:rPr lang="en-US" sz="2000" b="1" dirty="0">
                <a:solidFill>
                  <a:schemeClr val="bg1"/>
                </a:solidFill>
              </a:rPr>
              <a:t>-s</a:t>
            </a:r>
            <a:endParaRPr lang="en-US" sz="2000" dirty="0"/>
          </a:p>
        </p:txBody>
      </p:sp>
      <p:sp>
        <p:nvSpPr>
          <p:cNvPr id="27" name="Text 24"/>
          <p:cNvSpPr txBox="1"/>
          <p:nvPr/>
        </p:nvSpPr>
        <p:spPr>
          <a:xfrm>
            <a:off x="548640" y="3520440"/>
            <a:ext cx="8046720" cy="320040"/>
          </a:xfrm>
          <a:prstGeom prst="rect">
            <a:avLst/>
          </a:prstGeom>
          <a:noFill/>
          <a:ln/>
        </p:spPr>
        <p:txBody>
          <a:bodyPr wrap="square" lIns="0" tIns="0" rIns="0" bIns="0" rtlCol="0" anchor="ctr"/>
          <a:lstStyle/>
          <a:p>
            <a:pPr marL="0" indent="0" algn="ctr">
              <a:buNone/>
            </a:pPr>
            <a:r>
              <a:rPr lang="en-US" sz="1600" i="1" dirty="0">
                <a:solidFill>
                  <a:schemeClr val="tx2"/>
                </a:solidFill>
              </a:rPr>
              <a:t>= nationalizations</a:t>
            </a:r>
            <a:endParaRPr lang="en-US" sz="1600" dirty="0"/>
          </a:p>
        </p:txBody>
      </p:sp>
      <p:sp>
        <p:nvSpPr>
          <p:cNvPr id="28" name="Legend dot"/>
          <p:cNvSpPr/>
          <p:nvPr/>
        </p:nvSpPr>
        <p:spPr>
          <a:xfrm>
            <a:off x="1097280" y="4206240"/>
            <a:ext cx="201168" cy="201168"/>
          </a:xfrm>
          <a:prstGeom prst="ellipse">
            <a:avLst/>
          </a:prstGeom>
          <a:solidFill>
            <a:schemeClr val="tx2"/>
          </a:solidFill>
          <a:ln/>
        </p:spPr>
        <p:txBody>
          <a:bodyPr/>
          <a:lstStyle/>
          <a:p>
            <a:endParaRPr lang="en-IN"/>
          </a:p>
        </p:txBody>
      </p:sp>
      <p:sp>
        <p:nvSpPr>
          <p:cNvPr id="29" name="Text 26"/>
          <p:cNvSpPr txBox="1"/>
          <p:nvPr/>
        </p:nvSpPr>
        <p:spPr>
          <a:xfrm>
            <a:off x="1371600" y="4142232"/>
            <a:ext cx="1737360" cy="329184"/>
          </a:xfrm>
          <a:prstGeom prst="rect">
            <a:avLst/>
          </a:prstGeom>
          <a:noFill/>
          <a:ln/>
        </p:spPr>
        <p:txBody>
          <a:bodyPr wrap="square" lIns="0" tIns="0" rIns="0" bIns="0" rtlCol="0" anchor="ctr"/>
          <a:lstStyle/>
          <a:p>
            <a:pPr marL="0" indent="0">
              <a:buNone/>
            </a:pPr>
            <a:r>
              <a:rPr lang="en-US" sz="1400" dirty="0">
                <a:solidFill>
                  <a:schemeClr val="tx1"/>
                </a:solidFill>
              </a:rPr>
              <a:t>Root</a:t>
            </a:r>
            <a:endParaRPr lang="en-US" sz="1400" dirty="0"/>
          </a:p>
        </p:txBody>
      </p:sp>
      <p:sp>
        <p:nvSpPr>
          <p:cNvPr id="30" name="Legend dot"/>
          <p:cNvSpPr/>
          <p:nvPr/>
        </p:nvSpPr>
        <p:spPr>
          <a:xfrm>
            <a:off x="2743200" y="4206240"/>
            <a:ext cx="201168" cy="201168"/>
          </a:xfrm>
          <a:prstGeom prst="ellipse">
            <a:avLst/>
          </a:prstGeom>
          <a:solidFill>
            <a:schemeClr val="accent2"/>
          </a:solidFill>
          <a:ln/>
        </p:spPr>
        <p:txBody>
          <a:bodyPr/>
          <a:lstStyle/>
          <a:p>
            <a:endParaRPr lang="en-IN"/>
          </a:p>
        </p:txBody>
      </p:sp>
      <p:sp>
        <p:nvSpPr>
          <p:cNvPr id="31" name="Text 28"/>
          <p:cNvSpPr txBox="1"/>
          <p:nvPr/>
        </p:nvSpPr>
        <p:spPr>
          <a:xfrm>
            <a:off x="3017520" y="4142232"/>
            <a:ext cx="1737360" cy="329184"/>
          </a:xfrm>
          <a:prstGeom prst="rect">
            <a:avLst/>
          </a:prstGeom>
          <a:noFill/>
          <a:ln/>
        </p:spPr>
        <p:txBody>
          <a:bodyPr wrap="square" lIns="0" tIns="0" rIns="0" bIns="0" rtlCol="0" anchor="ctr"/>
          <a:lstStyle/>
          <a:p>
            <a:pPr marL="0" indent="0">
              <a:buNone/>
            </a:pPr>
            <a:r>
              <a:rPr lang="en-US" sz="1400" dirty="0">
                <a:solidFill>
                  <a:schemeClr val="tx1"/>
                </a:solidFill>
              </a:rPr>
              <a:t>Derivational</a:t>
            </a:r>
            <a:endParaRPr lang="en-US" sz="1400" dirty="0"/>
          </a:p>
        </p:txBody>
      </p:sp>
      <p:sp>
        <p:nvSpPr>
          <p:cNvPr id="32" name="Legend dot"/>
          <p:cNvSpPr/>
          <p:nvPr/>
        </p:nvSpPr>
        <p:spPr>
          <a:xfrm>
            <a:off x="4846320" y="4206240"/>
            <a:ext cx="201168" cy="201168"/>
          </a:xfrm>
          <a:prstGeom prst="ellipse">
            <a:avLst/>
          </a:prstGeom>
          <a:solidFill>
            <a:schemeClr val="accent1"/>
          </a:solidFill>
          <a:ln/>
        </p:spPr>
        <p:txBody>
          <a:bodyPr/>
          <a:lstStyle/>
          <a:p>
            <a:endParaRPr lang="en-IN"/>
          </a:p>
        </p:txBody>
      </p:sp>
      <p:sp>
        <p:nvSpPr>
          <p:cNvPr id="33" name="Text 30"/>
          <p:cNvSpPr txBox="1"/>
          <p:nvPr/>
        </p:nvSpPr>
        <p:spPr>
          <a:xfrm>
            <a:off x="5120640" y="4142232"/>
            <a:ext cx="1737360" cy="329184"/>
          </a:xfrm>
          <a:prstGeom prst="rect">
            <a:avLst/>
          </a:prstGeom>
          <a:noFill/>
          <a:ln/>
        </p:spPr>
        <p:txBody>
          <a:bodyPr wrap="square" lIns="0" tIns="0" rIns="0" bIns="0" rtlCol="0" anchor="ctr"/>
          <a:lstStyle/>
          <a:p>
            <a:pPr marL="0" indent="0">
              <a:buNone/>
            </a:pPr>
            <a:r>
              <a:rPr lang="en-US" sz="1400" dirty="0">
                <a:solidFill>
                  <a:schemeClr val="tx1"/>
                </a:solidFill>
              </a:rPr>
              <a:t>Inflectional</a:t>
            </a:r>
            <a:endParaRPr lang="en-US" sz="1400" dirty="0"/>
          </a:p>
        </p:txBody>
      </p:sp>
      <p:sp>
        <p:nvSpPr>
          <p:cNvPr id="3"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lIns="0" tIns="0" rIns="0" bIns="0" rtlCol="0" anchor="ctr"/>
          <a:lstStyle/>
          <a:p>
            <a:pPr marL="0" indent="0">
              <a:buNone/>
            </a:pPr>
            <a:r>
              <a:rPr lang="en-US" sz="3600" b="1" dirty="0">
                <a:solidFill>
                  <a:schemeClr val="tx2"/>
                </a:solidFill>
              </a:rPr>
              <a:t>Applications in NLP</a:t>
            </a:r>
            <a:endParaRPr lang="en-US" sz="3600" dirty="0"/>
          </a:p>
        </p:txBody>
      </p:sp>
      <p:sp>
        <p:nvSpPr>
          <p:cNvPr id="4" name="Inflectional card"/>
          <p:cNvSpPr/>
          <p:nvPr/>
        </p:nvSpPr>
        <p:spPr>
          <a:xfrm>
            <a:off x="548640" y="1280160"/>
            <a:ext cx="3931920" cy="3200400"/>
          </a:xfrm>
          <a:prstGeom prst="roundRect">
            <a:avLst>
              <a:gd name="adj" fmla="val 2857"/>
            </a:avLst>
          </a:prstGeom>
          <a:solidFill>
            <a:schemeClr val="bg2"/>
          </a:solidFill>
          <a:ln/>
        </p:spPr>
        <p:txBody>
          <a:bodyPr/>
          <a:lstStyle/>
          <a:p>
            <a:endParaRPr lang="en-IN"/>
          </a:p>
        </p:txBody>
      </p:sp>
      <p:sp>
        <p:nvSpPr>
          <p:cNvPr id="5" name="Inflectional badge"/>
          <p:cNvSpPr/>
          <p:nvPr/>
        </p:nvSpPr>
        <p:spPr>
          <a:xfrm>
            <a:off x="777240" y="1463040"/>
            <a:ext cx="457200" cy="457200"/>
          </a:xfrm>
          <a:prstGeom prst="ellipse">
            <a:avLst/>
          </a:prstGeom>
          <a:solidFill>
            <a:schemeClr val="accent1"/>
          </a:solidFill>
          <a:ln/>
        </p:spPr>
        <p:txBody>
          <a:bodyPr/>
          <a:lstStyle/>
          <a:p>
            <a:endParaRPr lang="en-IN"/>
          </a:p>
        </p:txBody>
      </p:sp>
      <p:sp>
        <p:nvSpPr>
          <p:cNvPr id="6" name="Text 3"/>
          <p:cNvSpPr txBox="1"/>
          <p:nvPr/>
        </p:nvSpPr>
        <p:spPr>
          <a:xfrm>
            <a:off x="777240" y="146304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I</a:t>
            </a:r>
            <a:endParaRPr lang="en-US" sz="1800" dirty="0"/>
          </a:p>
        </p:txBody>
      </p:sp>
      <p:sp>
        <p:nvSpPr>
          <p:cNvPr id="7" name="Text 4"/>
          <p:cNvSpPr txBox="1"/>
          <p:nvPr/>
        </p:nvSpPr>
        <p:spPr>
          <a:xfrm>
            <a:off x="1371600" y="1463040"/>
            <a:ext cx="2926080" cy="457200"/>
          </a:xfrm>
          <a:prstGeom prst="rect">
            <a:avLst/>
          </a:prstGeom>
          <a:noFill/>
          <a:ln/>
        </p:spPr>
        <p:txBody>
          <a:bodyPr wrap="square" lIns="0" tIns="0" rIns="0" bIns="0" rtlCol="0" anchor="ctr"/>
          <a:lstStyle/>
          <a:p>
            <a:pPr marL="0" indent="0">
              <a:buNone/>
            </a:pPr>
            <a:r>
              <a:rPr lang="en-US" sz="2000" b="1" dirty="0">
                <a:solidFill>
                  <a:schemeClr val="accent1"/>
                </a:solidFill>
                <a:latin typeface="Cambria" pitchFamily="34" charset="0"/>
                <a:ea typeface="Cambria" pitchFamily="34" charset="-122"/>
                <a:cs typeface="Cambria" pitchFamily="34" charset="-120"/>
              </a:rPr>
              <a:t>Inflectional</a:t>
            </a:r>
            <a:endParaRPr lang="en-US" sz="2000" dirty="0"/>
          </a:p>
        </p:txBody>
      </p:sp>
      <p:sp>
        <p:nvSpPr>
          <p:cNvPr id="8" name="Text 5"/>
          <p:cNvSpPr txBox="1"/>
          <p:nvPr/>
        </p:nvSpPr>
        <p:spPr>
          <a:xfrm>
            <a:off x="777240" y="2103120"/>
            <a:ext cx="3474720" cy="22402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Lemmatization and stemming for search and indexing</a:t>
            </a:r>
            <a:endParaRPr lang="en-US" sz="1400" dirty="0"/>
          </a:p>
          <a:p>
            <a:pPr marL="342900" indent="-342900">
              <a:spcAft>
                <a:spcPts val="800"/>
              </a:spcAft>
              <a:buSzPct val="100000"/>
              <a:buChar char="•"/>
            </a:pPr>
            <a:r>
              <a:rPr lang="en-US" sz="1400" dirty="0">
                <a:solidFill>
                  <a:schemeClr val="tx1"/>
                </a:solidFill>
              </a:rPr>
              <a:t>Agreement checks in POS tagging and parsing</a:t>
            </a:r>
            <a:endParaRPr lang="en-US" sz="1400" dirty="0"/>
          </a:p>
          <a:p>
            <a:pPr marL="342900" indent="-342900">
              <a:spcAft>
                <a:spcPts val="800"/>
              </a:spcAft>
              <a:buSzPct val="100000"/>
              <a:buChar char="•"/>
            </a:pPr>
            <a:r>
              <a:rPr lang="en-US" sz="1400" dirty="0">
                <a:solidFill>
                  <a:schemeClr val="tx1"/>
                </a:solidFill>
              </a:rPr>
              <a:t>Correct word forms in machine translation</a:t>
            </a:r>
            <a:endParaRPr lang="en-US" sz="1400" dirty="0"/>
          </a:p>
          <a:p>
            <a:pPr marL="342900" indent="-342900">
              <a:spcAft>
                <a:spcPts val="800"/>
              </a:spcAft>
              <a:buSzPct val="100000"/>
              <a:buChar char="•"/>
            </a:pPr>
            <a:r>
              <a:rPr lang="en-US" sz="1400" dirty="0">
                <a:solidFill>
                  <a:schemeClr val="tx1"/>
                </a:solidFill>
              </a:rPr>
              <a:t>Text normalization before tokenization</a:t>
            </a:r>
            <a:endParaRPr lang="en-US" sz="1400" dirty="0"/>
          </a:p>
        </p:txBody>
      </p:sp>
      <p:sp>
        <p:nvSpPr>
          <p:cNvPr id="9" name="Derivational card"/>
          <p:cNvSpPr/>
          <p:nvPr/>
        </p:nvSpPr>
        <p:spPr>
          <a:xfrm>
            <a:off x="4663440" y="1280160"/>
            <a:ext cx="3931920" cy="3200400"/>
          </a:xfrm>
          <a:prstGeom prst="roundRect">
            <a:avLst>
              <a:gd name="adj" fmla="val 2857"/>
            </a:avLst>
          </a:prstGeom>
          <a:solidFill>
            <a:schemeClr val="accent2">
              <a:alpha val="10000"/>
            </a:schemeClr>
          </a:solidFill>
          <a:ln/>
        </p:spPr>
        <p:txBody>
          <a:bodyPr/>
          <a:lstStyle/>
          <a:p>
            <a:endParaRPr lang="en-IN"/>
          </a:p>
        </p:txBody>
      </p:sp>
      <p:sp>
        <p:nvSpPr>
          <p:cNvPr id="10" name="Derivational badge"/>
          <p:cNvSpPr/>
          <p:nvPr/>
        </p:nvSpPr>
        <p:spPr>
          <a:xfrm>
            <a:off x="4892040" y="1463040"/>
            <a:ext cx="457200" cy="457200"/>
          </a:xfrm>
          <a:prstGeom prst="ellipse">
            <a:avLst/>
          </a:prstGeom>
          <a:solidFill>
            <a:schemeClr val="accent2"/>
          </a:solidFill>
          <a:ln/>
        </p:spPr>
        <p:txBody>
          <a:bodyPr/>
          <a:lstStyle/>
          <a:p>
            <a:endParaRPr lang="en-IN"/>
          </a:p>
        </p:txBody>
      </p:sp>
      <p:sp>
        <p:nvSpPr>
          <p:cNvPr id="11" name="Text 8"/>
          <p:cNvSpPr txBox="1"/>
          <p:nvPr/>
        </p:nvSpPr>
        <p:spPr>
          <a:xfrm>
            <a:off x="4892040" y="146304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D</a:t>
            </a:r>
            <a:endParaRPr lang="en-US" sz="1800" dirty="0"/>
          </a:p>
        </p:txBody>
      </p:sp>
      <p:sp>
        <p:nvSpPr>
          <p:cNvPr id="12" name="Text 9"/>
          <p:cNvSpPr txBox="1"/>
          <p:nvPr/>
        </p:nvSpPr>
        <p:spPr>
          <a:xfrm>
            <a:off x="5486400" y="1463040"/>
            <a:ext cx="2926080" cy="457200"/>
          </a:xfrm>
          <a:prstGeom prst="rect">
            <a:avLst/>
          </a:prstGeom>
          <a:noFill/>
          <a:ln/>
        </p:spPr>
        <p:txBody>
          <a:bodyPr wrap="square" lIns="0" tIns="0" rIns="0" bIns="0" rtlCol="0" anchor="ctr"/>
          <a:lstStyle/>
          <a:p>
            <a:pPr marL="0" indent="0">
              <a:buNone/>
            </a:pPr>
            <a:r>
              <a:rPr lang="en-US" sz="2000" b="1" dirty="0">
                <a:solidFill>
                  <a:schemeClr val="accent2"/>
                </a:solidFill>
                <a:latin typeface="Cambria" pitchFamily="34" charset="0"/>
                <a:ea typeface="Cambria" pitchFamily="34" charset="-122"/>
                <a:cs typeface="Cambria" pitchFamily="34" charset="-120"/>
              </a:rPr>
              <a:t>Derivational</a:t>
            </a:r>
            <a:endParaRPr lang="en-US" sz="2000" dirty="0"/>
          </a:p>
        </p:txBody>
      </p:sp>
      <p:sp>
        <p:nvSpPr>
          <p:cNvPr id="13" name="Text 10"/>
          <p:cNvSpPr txBox="1"/>
          <p:nvPr/>
        </p:nvSpPr>
        <p:spPr>
          <a:xfrm>
            <a:off x="4892040" y="2103120"/>
            <a:ext cx="3474720" cy="22402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Vocabulary and query expansion</a:t>
            </a:r>
            <a:endParaRPr lang="en-US" sz="1400" dirty="0"/>
          </a:p>
          <a:p>
            <a:pPr marL="342900" indent="-342900">
              <a:spcAft>
                <a:spcPts val="800"/>
              </a:spcAft>
              <a:buSzPct val="100000"/>
              <a:buChar char="•"/>
            </a:pPr>
            <a:r>
              <a:rPr lang="en-US" sz="1400" dirty="0">
                <a:solidFill>
                  <a:schemeClr val="tx1"/>
                </a:solidFill>
              </a:rPr>
              <a:t>Sentiment cues from affixes (un-, -less)</a:t>
            </a:r>
            <a:endParaRPr lang="en-US" sz="1400" dirty="0"/>
          </a:p>
          <a:p>
            <a:pPr marL="342900" indent="-342900">
              <a:spcAft>
                <a:spcPts val="800"/>
              </a:spcAft>
              <a:buSzPct val="100000"/>
              <a:buChar char="•"/>
            </a:pPr>
            <a:r>
              <a:rPr lang="en-US" sz="1400" dirty="0">
                <a:solidFill>
                  <a:schemeClr val="tx1"/>
                </a:solidFill>
              </a:rPr>
              <a:t>Guessing the meaning of unseen words</a:t>
            </a:r>
            <a:endParaRPr lang="en-US" sz="1400" dirty="0"/>
          </a:p>
          <a:p>
            <a:pPr marL="342900" indent="-342900">
              <a:spcAft>
                <a:spcPts val="800"/>
              </a:spcAft>
              <a:buSzPct val="100000"/>
              <a:buChar char="•"/>
            </a:pPr>
            <a:r>
              <a:rPr lang="en-US" sz="1400" dirty="0">
                <a:solidFill>
                  <a:schemeClr val="tx1"/>
                </a:solidFill>
              </a:rPr>
              <a:t>Subword models such as BPE and WordPiece</a:t>
            </a:r>
            <a:endParaRPr lang="en-US" sz="14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lIns="0" tIns="0" rIns="0" bIns="0" rtlCol="0" anchor="ctr"/>
          <a:lstStyle/>
          <a:p>
            <a:pPr marL="0" indent="0">
              <a:buNone/>
            </a:pPr>
            <a:r>
              <a:rPr lang="en-US" sz="3600" b="1" dirty="0">
                <a:solidFill>
                  <a:schemeClr val="tx2"/>
                </a:solidFill>
              </a:rPr>
              <a:t>Challenges</a:t>
            </a:r>
            <a:endParaRPr lang="en-US" sz="3600" dirty="0"/>
          </a:p>
        </p:txBody>
      </p:sp>
      <p:sp>
        <p:nvSpPr>
          <p:cNvPr id="4" name="Irregular forms card"/>
          <p:cNvSpPr/>
          <p:nvPr/>
        </p:nvSpPr>
        <p:spPr>
          <a:xfrm>
            <a:off x="548640" y="1280160"/>
            <a:ext cx="3931920" cy="1463040"/>
          </a:xfrm>
          <a:prstGeom prst="roundRect">
            <a:avLst>
              <a:gd name="adj" fmla="val 6250"/>
            </a:avLst>
          </a:prstGeom>
          <a:solidFill>
            <a:schemeClr val="bg2"/>
          </a:solidFill>
          <a:ln/>
        </p:spPr>
        <p:txBody>
          <a:bodyPr/>
          <a:lstStyle/>
          <a:p>
            <a:endParaRPr lang="en-IN"/>
          </a:p>
        </p:txBody>
      </p:sp>
      <p:sp>
        <p:nvSpPr>
          <p:cNvPr id="5" name="Chip Inflectional"/>
          <p:cNvSpPr/>
          <p:nvPr/>
        </p:nvSpPr>
        <p:spPr>
          <a:xfrm>
            <a:off x="777240" y="1417320"/>
            <a:ext cx="1188720" cy="274320"/>
          </a:xfrm>
          <a:prstGeom prst="roundRect">
            <a:avLst>
              <a:gd name="adj" fmla="val 33333"/>
            </a:avLst>
          </a:prstGeom>
          <a:solidFill>
            <a:schemeClr val="accent1"/>
          </a:solidFill>
          <a:ln/>
        </p:spPr>
        <p:txBody>
          <a:bodyPr/>
          <a:lstStyle/>
          <a:p>
            <a:endParaRPr lang="en-IN"/>
          </a:p>
        </p:txBody>
      </p:sp>
      <p:sp>
        <p:nvSpPr>
          <p:cNvPr id="6" name="Text 3"/>
          <p:cNvSpPr txBox="1"/>
          <p:nvPr/>
        </p:nvSpPr>
        <p:spPr>
          <a:xfrm>
            <a:off x="777240" y="1417320"/>
            <a:ext cx="1188720" cy="274320"/>
          </a:xfrm>
          <a:prstGeom prst="rect">
            <a:avLst/>
          </a:prstGeom>
          <a:noFill/>
          <a:ln/>
        </p:spPr>
        <p:txBody>
          <a:bodyPr wrap="square" lIns="0" tIns="0" rIns="0" bIns="0" rtlCol="0" anchor="ctr"/>
          <a:lstStyle/>
          <a:p>
            <a:pPr marL="0" indent="0" algn="ctr">
              <a:buNone/>
            </a:pPr>
            <a:r>
              <a:rPr lang="en-US" sz="1100" b="1" dirty="0">
                <a:solidFill>
                  <a:schemeClr val="bg1"/>
                </a:solidFill>
              </a:rPr>
              <a:t>Inflectional</a:t>
            </a:r>
            <a:endParaRPr lang="en-US" sz="1100" dirty="0"/>
          </a:p>
        </p:txBody>
      </p:sp>
      <p:sp>
        <p:nvSpPr>
          <p:cNvPr id="7" name="Text 4"/>
          <p:cNvSpPr txBox="1"/>
          <p:nvPr/>
        </p:nvSpPr>
        <p:spPr>
          <a:xfrm>
            <a:off x="777240" y="1737360"/>
            <a:ext cx="3474720" cy="32004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Irregular forms</a:t>
            </a:r>
            <a:endParaRPr lang="en-US" sz="1800" dirty="0"/>
          </a:p>
        </p:txBody>
      </p:sp>
      <p:sp>
        <p:nvSpPr>
          <p:cNvPr id="8" name="Text 5"/>
          <p:cNvSpPr txBox="1"/>
          <p:nvPr/>
        </p:nvSpPr>
        <p:spPr>
          <a:xfrm>
            <a:off x="777240" y="2084832"/>
            <a:ext cx="3474720" cy="566928"/>
          </a:xfrm>
          <a:prstGeom prst="rect">
            <a:avLst/>
          </a:prstGeom>
          <a:noFill/>
          <a:ln/>
        </p:spPr>
        <p:txBody>
          <a:bodyPr wrap="square" lIns="0" tIns="0" rIns="0" bIns="0" rtlCol="0" anchor="t"/>
          <a:lstStyle/>
          <a:p>
            <a:pPr marL="0" indent="0">
              <a:buNone/>
            </a:pPr>
            <a:r>
              <a:rPr lang="en-US" sz="1400" dirty="0">
                <a:solidFill>
                  <a:schemeClr val="tx1"/>
                </a:solidFill>
              </a:rPr>
              <a:t>went, mice and better break rule-based stemmers</a:t>
            </a:r>
            <a:endParaRPr lang="en-US" sz="1400" dirty="0"/>
          </a:p>
        </p:txBody>
      </p:sp>
      <p:sp>
        <p:nvSpPr>
          <p:cNvPr id="9" name="Ambiguous affixes card"/>
          <p:cNvSpPr/>
          <p:nvPr/>
        </p:nvSpPr>
        <p:spPr>
          <a:xfrm>
            <a:off x="4663440" y="1280160"/>
            <a:ext cx="3931920" cy="1463040"/>
          </a:xfrm>
          <a:prstGeom prst="roundRect">
            <a:avLst>
              <a:gd name="adj" fmla="val 6250"/>
            </a:avLst>
          </a:prstGeom>
          <a:solidFill>
            <a:schemeClr val="bg2"/>
          </a:solidFill>
          <a:ln/>
        </p:spPr>
        <p:txBody>
          <a:bodyPr/>
          <a:lstStyle/>
          <a:p>
            <a:endParaRPr lang="en-IN"/>
          </a:p>
        </p:txBody>
      </p:sp>
      <p:sp>
        <p:nvSpPr>
          <p:cNvPr id="10" name="Chip Derivational"/>
          <p:cNvSpPr/>
          <p:nvPr/>
        </p:nvSpPr>
        <p:spPr>
          <a:xfrm>
            <a:off x="4892040" y="1417320"/>
            <a:ext cx="1188720" cy="274320"/>
          </a:xfrm>
          <a:prstGeom prst="roundRect">
            <a:avLst>
              <a:gd name="adj" fmla="val 33333"/>
            </a:avLst>
          </a:prstGeom>
          <a:solidFill>
            <a:schemeClr val="accent2"/>
          </a:solidFill>
          <a:ln/>
        </p:spPr>
        <p:txBody>
          <a:bodyPr/>
          <a:lstStyle/>
          <a:p>
            <a:endParaRPr lang="en-IN"/>
          </a:p>
        </p:txBody>
      </p:sp>
      <p:sp>
        <p:nvSpPr>
          <p:cNvPr id="11" name="Text 8"/>
          <p:cNvSpPr txBox="1"/>
          <p:nvPr/>
        </p:nvSpPr>
        <p:spPr>
          <a:xfrm>
            <a:off x="4892040" y="1417320"/>
            <a:ext cx="1188720" cy="274320"/>
          </a:xfrm>
          <a:prstGeom prst="rect">
            <a:avLst/>
          </a:prstGeom>
          <a:noFill/>
          <a:ln/>
        </p:spPr>
        <p:txBody>
          <a:bodyPr wrap="square" lIns="0" tIns="0" rIns="0" bIns="0" rtlCol="0" anchor="ctr"/>
          <a:lstStyle/>
          <a:p>
            <a:pPr marL="0" indent="0" algn="ctr">
              <a:buNone/>
            </a:pPr>
            <a:r>
              <a:rPr lang="en-US" sz="1100" b="1" dirty="0">
                <a:solidFill>
                  <a:schemeClr val="bg1"/>
                </a:solidFill>
              </a:rPr>
              <a:t>Derivational</a:t>
            </a:r>
            <a:endParaRPr lang="en-US" sz="1100" dirty="0"/>
          </a:p>
        </p:txBody>
      </p:sp>
      <p:sp>
        <p:nvSpPr>
          <p:cNvPr id="12" name="Text 9"/>
          <p:cNvSpPr txBox="1"/>
          <p:nvPr/>
        </p:nvSpPr>
        <p:spPr>
          <a:xfrm>
            <a:off x="4892040" y="1737360"/>
            <a:ext cx="3474720" cy="32004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Ambiguous affixes</a:t>
            </a:r>
            <a:endParaRPr lang="en-US" sz="1800" dirty="0"/>
          </a:p>
        </p:txBody>
      </p:sp>
      <p:sp>
        <p:nvSpPr>
          <p:cNvPr id="13" name="Text 10"/>
          <p:cNvSpPr txBox="1"/>
          <p:nvPr/>
        </p:nvSpPr>
        <p:spPr>
          <a:xfrm>
            <a:off x="4892040" y="2084832"/>
            <a:ext cx="3474720" cy="566928"/>
          </a:xfrm>
          <a:prstGeom prst="rect">
            <a:avLst/>
          </a:prstGeom>
          <a:noFill/>
          <a:ln/>
        </p:spPr>
        <p:txBody>
          <a:bodyPr wrap="square" lIns="0" tIns="0" rIns="0" bIns="0" rtlCol="0" anchor="t"/>
          <a:lstStyle/>
          <a:p>
            <a:pPr marL="0" indent="0">
              <a:buNone/>
            </a:pPr>
            <a:r>
              <a:rPr lang="en-US" sz="1400" dirty="0">
                <a:solidFill>
                  <a:schemeClr val="tx1"/>
                </a:solidFill>
              </a:rPr>
              <a:t>-er in teacher vs bigger; un- in undo vs unhappy</a:t>
            </a:r>
            <a:endParaRPr lang="en-US" sz="1400" dirty="0"/>
          </a:p>
        </p:txBody>
      </p:sp>
      <p:sp>
        <p:nvSpPr>
          <p:cNvPr id="14" name="Unpredictable meaning card"/>
          <p:cNvSpPr/>
          <p:nvPr/>
        </p:nvSpPr>
        <p:spPr>
          <a:xfrm>
            <a:off x="548640" y="3017520"/>
            <a:ext cx="3931920" cy="1463040"/>
          </a:xfrm>
          <a:prstGeom prst="roundRect">
            <a:avLst>
              <a:gd name="adj" fmla="val 6250"/>
            </a:avLst>
          </a:prstGeom>
          <a:solidFill>
            <a:schemeClr val="bg2"/>
          </a:solidFill>
          <a:ln/>
        </p:spPr>
        <p:txBody>
          <a:bodyPr/>
          <a:lstStyle/>
          <a:p>
            <a:endParaRPr lang="en-IN"/>
          </a:p>
        </p:txBody>
      </p:sp>
      <p:sp>
        <p:nvSpPr>
          <p:cNvPr id="15" name="Chip Derivational"/>
          <p:cNvSpPr/>
          <p:nvPr/>
        </p:nvSpPr>
        <p:spPr>
          <a:xfrm>
            <a:off x="777240" y="3154680"/>
            <a:ext cx="1188720" cy="274320"/>
          </a:xfrm>
          <a:prstGeom prst="roundRect">
            <a:avLst>
              <a:gd name="adj" fmla="val 33333"/>
            </a:avLst>
          </a:prstGeom>
          <a:solidFill>
            <a:schemeClr val="accent2"/>
          </a:solidFill>
          <a:ln/>
        </p:spPr>
        <p:txBody>
          <a:bodyPr/>
          <a:lstStyle/>
          <a:p>
            <a:endParaRPr lang="en-IN"/>
          </a:p>
        </p:txBody>
      </p:sp>
      <p:sp>
        <p:nvSpPr>
          <p:cNvPr id="16" name="Text 13"/>
          <p:cNvSpPr txBox="1"/>
          <p:nvPr/>
        </p:nvSpPr>
        <p:spPr>
          <a:xfrm>
            <a:off x="777240" y="3154680"/>
            <a:ext cx="1188720" cy="274320"/>
          </a:xfrm>
          <a:prstGeom prst="rect">
            <a:avLst/>
          </a:prstGeom>
          <a:noFill/>
          <a:ln/>
        </p:spPr>
        <p:txBody>
          <a:bodyPr wrap="square" lIns="0" tIns="0" rIns="0" bIns="0" rtlCol="0" anchor="ctr"/>
          <a:lstStyle/>
          <a:p>
            <a:pPr marL="0" indent="0" algn="ctr">
              <a:buNone/>
            </a:pPr>
            <a:r>
              <a:rPr lang="en-US" sz="1100" b="1" dirty="0">
                <a:solidFill>
                  <a:schemeClr val="bg1"/>
                </a:solidFill>
              </a:rPr>
              <a:t>Derivational</a:t>
            </a:r>
            <a:endParaRPr lang="en-US" sz="1100" dirty="0"/>
          </a:p>
        </p:txBody>
      </p:sp>
      <p:sp>
        <p:nvSpPr>
          <p:cNvPr id="17" name="Text 14"/>
          <p:cNvSpPr txBox="1"/>
          <p:nvPr/>
        </p:nvSpPr>
        <p:spPr>
          <a:xfrm>
            <a:off x="777240" y="3474720"/>
            <a:ext cx="3474720" cy="32004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Unpredictable meaning</a:t>
            </a:r>
            <a:endParaRPr lang="en-US" sz="1800" dirty="0"/>
          </a:p>
        </p:txBody>
      </p:sp>
      <p:sp>
        <p:nvSpPr>
          <p:cNvPr id="18" name="Text 15"/>
          <p:cNvSpPr txBox="1"/>
          <p:nvPr/>
        </p:nvSpPr>
        <p:spPr>
          <a:xfrm>
            <a:off x="777240" y="3822192"/>
            <a:ext cx="3474720" cy="566928"/>
          </a:xfrm>
          <a:prstGeom prst="rect">
            <a:avLst/>
          </a:prstGeom>
          <a:noFill/>
          <a:ln/>
        </p:spPr>
        <p:txBody>
          <a:bodyPr wrap="square" lIns="0" tIns="0" rIns="0" bIns="0" rtlCol="0" anchor="t"/>
          <a:lstStyle/>
          <a:p>
            <a:pPr marL="0" indent="0">
              <a:buNone/>
            </a:pPr>
            <a:r>
              <a:rPr lang="en-US" sz="1400" dirty="0">
                <a:solidFill>
                  <a:schemeClr val="tx1"/>
                </a:solidFill>
              </a:rPr>
              <a:t>department is not depart + ment; meaning drifts</a:t>
            </a:r>
            <a:endParaRPr lang="en-US" sz="1400" dirty="0"/>
          </a:p>
        </p:txBody>
      </p:sp>
      <p:sp>
        <p:nvSpPr>
          <p:cNvPr id="19" name="Data sparsity card"/>
          <p:cNvSpPr/>
          <p:nvPr/>
        </p:nvSpPr>
        <p:spPr>
          <a:xfrm>
            <a:off x="4663440" y="3017520"/>
            <a:ext cx="3931920" cy="1463040"/>
          </a:xfrm>
          <a:prstGeom prst="roundRect">
            <a:avLst>
              <a:gd name="adj" fmla="val 6250"/>
            </a:avLst>
          </a:prstGeom>
          <a:solidFill>
            <a:schemeClr val="bg2"/>
          </a:solidFill>
          <a:ln/>
        </p:spPr>
        <p:txBody>
          <a:bodyPr/>
          <a:lstStyle/>
          <a:p>
            <a:endParaRPr lang="en-IN"/>
          </a:p>
        </p:txBody>
      </p:sp>
      <p:sp>
        <p:nvSpPr>
          <p:cNvPr id="20" name="Chip Both"/>
          <p:cNvSpPr/>
          <p:nvPr/>
        </p:nvSpPr>
        <p:spPr>
          <a:xfrm>
            <a:off x="4892040" y="3154680"/>
            <a:ext cx="1188720" cy="274320"/>
          </a:xfrm>
          <a:prstGeom prst="roundRect">
            <a:avLst>
              <a:gd name="adj" fmla="val 33333"/>
            </a:avLst>
          </a:prstGeom>
          <a:solidFill>
            <a:schemeClr val="tx2"/>
          </a:solidFill>
          <a:ln/>
        </p:spPr>
        <p:txBody>
          <a:bodyPr/>
          <a:lstStyle/>
          <a:p>
            <a:endParaRPr lang="en-IN"/>
          </a:p>
        </p:txBody>
      </p:sp>
      <p:sp>
        <p:nvSpPr>
          <p:cNvPr id="21" name="Text 18"/>
          <p:cNvSpPr txBox="1"/>
          <p:nvPr/>
        </p:nvSpPr>
        <p:spPr>
          <a:xfrm>
            <a:off x="4892040" y="3154680"/>
            <a:ext cx="1188720" cy="274320"/>
          </a:xfrm>
          <a:prstGeom prst="rect">
            <a:avLst/>
          </a:prstGeom>
          <a:noFill/>
          <a:ln/>
        </p:spPr>
        <p:txBody>
          <a:bodyPr wrap="square" lIns="0" tIns="0" rIns="0" bIns="0" rtlCol="0" anchor="ctr"/>
          <a:lstStyle/>
          <a:p>
            <a:pPr marL="0" indent="0" algn="ctr">
              <a:buNone/>
            </a:pPr>
            <a:r>
              <a:rPr lang="en-US" sz="1100" b="1" dirty="0">
                <a:solidFill>
                  <a:schemeClr val="bg1"/>
                </a:solidFill>
              </a:rPr>
              <a:t>Both</a:t>
            </a:r>
            <a:endParaRPr lang="en-US" sz="1100" dirty="0"/>
          </a:p>
        </p:txBody>
      </p:sp>
      <p:sp>
        <p:nvSpPr>
          <p:cNvPr id="22" name="Text 19"/>
          <p:cNvSpPr txBox="1"/>
          <p:nvPr/>
        </p:nvSpPr>
        <p:spPr>
          <a:xfrm>
            <a:off x="4892040" y="3474720"/>
            <a:ext cx="3474720" cy="32004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Data sparsity</a:t>
            </a:r>
            <a:endParaRPr lang="en-US" sz="1800" dirty="0"/>
          </a:p>
        </p:txBody>
      </p:sp>
      <p:sp>
        <p:nvSpPr>
          <p:cNvPr id="23" name="Text 20"/>
          <p:cNvSpPr txBox="1"/>
          <p:nvPr/>
        </p:nvSpPr>
        <p:spPr>
          <a:xfrm>
            <a:off x="4892040" y="3822192"/>
            <a:ext cx="3474720" cy="566928"/>
          </a:xfrm>
          <a:prstGeom prst="rect">
            <a:avLst/>
          </a:prstGeom>
          <a:noFill/>
          <a:ln/>
        </p:spPr>
        <p:txBody>
          <a:bodyPr wrap="square" lIns="0" tIns="0" rIns="0" bIns="0" rtlCol="0" anchor="t"/>
          <a:lstStyle/>
          <a:p>
            <a:pPr marL="0" indent="0">
              <a:buNone/>
            </a:pPr>
            <a:r>
              <a:rPr lang="en-US" sz="1400" dirty="0">
                <a:solidFill>
                  <a:schemeClr val="tx1"/>
                </a:solidFill>
              </a:rPr>
              <a:t>Rich morphology (Tamil, Turkish) explodes the vocabulary</a:t>
            </a:r>
            <a:endParaRPr lang="en-US" sz="14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lIns="0" tIns="0" rIns="0" bIns="0" rtlCol="0" anchor="ctr"/>
          <a:lstStyle/>
          <a:p>
            <a:pPr marL="0" indent="0">
              <a:buNone/>
            </a:pPr>
            <a:r>
              <a:rPr lang="en-US" sz="3600" b="1" dirty="0">
                <a:solidFill>
                  <a:schemeClr val="tx2"/>
                </a:solidFill>
              </a:rPr>
              <a:t>Techniques used in NLP</a:t>
            </a:r>
            <a:endParaRPr lang="en-US" sz="3600" dirty="0"/>
          </a:p>
        </p:txBody>
      </p:sp>
      <p:sp>
        <p:nvSpPr>
          <p:cNvPr id="4" name="Number 1"/>
          <p:cNvSpPr/>
          <p:nvPr/>
        </p:nvSpPr>
        <p:spPr>
          <a:xfrm>
            <a:off x="548640" y="1280160"/>
            <a:ext cx="640080" cy="640080"/>
          </a:xfrm>
          <a:prstGeom prst="ellipse">
            <a:avLst/>
          </a:prstGeom>
          <a:solidFill>
            <a:schemeClr val="accent1"/>
          </a:solidFill>
          <a:ln/>
        </p:spPr>
        <p:txBody>
          <a:bodyPr/>
          <a:lstStyle/>
          <a:p>
            <a:endParaRPr lang="en-IN"/>
          </a:p>
        </p:txBody>
      </p:sp>
      <p:sp>
        <p:nvSpPr>
          <p:cNvPr id="5" name="Text 2"/>
          <p:cNvSpPr txBox="1"/>
          <p:nvPr/>
        </p:nvSpPr>
        <p:spPr>
          <a:xfrm>
            <a:off x="548640" y="1280160"/>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6" name="Text 3"/>
          <p:cNvSpPr txBox="1"/>
          <p:nvPr/>
        </p:nvSpPr>
        <p:spPr>
          <a:xfrm>
            <a:off x="1417320" y="1252728"/>
            <a:ext cx="7178040" cy="694944"/>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Rule-based stemmers</a:t>
            </a:r>
            <a:endParaRPr lang="en-US" sz="1800" dirty="0"/>
          </a:p>
          <a:p>
            <a:pPr marL="0" indent="0">
              <a:buNone/>
            </a:pPr>
            <a:r>
              <a:rPr lang="en-US" sz="1400" dirty="0">
                <a:solidFill>
                  <a:schemeClr val="tx1"/>
                </a:solidFill>
              </a:rPr>
              <a:t>Porter, Snowball: chop suffixes by rules. Fast, but crude.</a:t>
            </a:r>
            <a:endParaRPr lang="en-US" sz="1800" dirty="0"/>
          </a:p>
        </p:txBody>
      </p:sp>
      <p:sp>
        <p:nvSpPr>
          <p:cNvPr id="7" name="Number 2"/>
          <p:cNvSpPr/>
          <p:nvPr/>
        </p:nvSpPr>
        <p:spPr>
          <a:xfrm>
            <a:off x="548640" y="2103120"/>
            <a:ext cx="640080" cy="640080"/>
          </a:xfrm>
          <a:prstGeom prst="ellipse">
            <a:avLst/>
          </a:prstGeom>
          <a:solidFill>
            <a:schemeClr val="accent5"/>
          </a:solidFill>
          <a:ln/>
        </p:spPr>
        <p:txBody>
          <a:bodyPr/>
          <a:lstStyle/>
          <a:p>
            <a:endParaRPr lang="en-IN"/>
          </a:p>
        </p:txBody>
      </p:sp>
      <p:sp>
        <p:nvSpPr>
          <p:cNvPr id="8" name="Text 5"/>
          <p:cNvSpPr txBox="1"/>
          <p:nvPr/>
        </p:nvSpPr>
        <p:spPr>
          <a:xfrm>
            <a:off x="548640" y="2103120"/>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rPr>
              <a:t>2</a:t>
            </a:r>
            <a:endParaRPr lang="en-US" sz="2200" dirty="0"/>
          </a:p>
        </p:txBody>
      </p:sp>
      <p:sp>
        <p:nvSpPr>
          <p:cNvPr id="9" name="Text 6"/>
          <p:cNvSpPr txBox="1"/>
          <p:nvPr/>
        </p:nvSpPr>
        <p:spPr>
          <a:xfrm>
            <a:off x="1417320" y="2075688"/>
            <a:ext cx="7178040" cy="694944"/>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Dictionary lemmatizers</a:t>
            </a:r>
            <a:endParaRPr lang="en-US" sz="1800" dirty="0"/>
          </a:p>
          <a:p>
            <a:pPr marL="0" indent="0">
              <a:buNone/>
            </a:pPr>
            <a:r>
              <a:rPr lang="en-US" sz="1400" dirty="0">
                <a:solidFill>
                  <a:schemeClr val="tx1"/>
                </a:solidFill>
              </a:rPr>
              <a:t>WordNet, spaCy: return the real base form using POS.</a:t>
            </a:r>
            <a:endParaRPr lang="en-US" sz="1800" dirty="0"/>
          </a:p>
        </p:txBody>
      </p:sp>
      <p:sp>
        <p:nvSpPr>
          <p:cNvPr id="10" name="Number 3"/>
          <p:cNvSpPr/>
          <p:nvPr/>
        </p:nvSpPr>
        <p:spPr>
          <a:xfrm>
            <a:off x="548640" y="2926080"/>
            <a:ext cx="640080" cy="640080"/>
          </a:xfrm>
          <a:prstGeom prst="ellipse">
            <a:avLst/>
          </a:prstGeom>
          <a:solidFill>
            <a:schemeClr val="accent2"/>
          </a:solidFill>
          <a:ln/>
        </p:spPr>
        <p:txBody>
          <a:bodyPr/>
          <a:lstStyle/>
          <a:p>
            <a:endParaRPr lang="en-IN"/>
          </a:p>
        </p:txBody>
      </p:sp>
      <p:sp>
        <p:nvSpPr>
          <p:cNvPr id="11" name="Text 8"/>
          <p:cNvSpPr txBox="1"/>
          <p:nvPr/>
        </p:nvSpPr>
        <p:spPr>
          <a:xfrm>
            <a:off x="548640" y="2926080"/>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rPr>
              <a:t>3</a:t>
            </a:r>
            <a:endParaRPr lang="en-US" sz="2200" dirty="0"/>
          </a:p>
        </p:txBody>
      </p:sp>
      <p:sp>
        <p:nvSpPr>
          <p:cNvPr id="12" name="Text 9"/>
          <p:cNvSpPr txBox="1"/>
          <p:nvPr/>
        </p:nvSpPr>
        <p:spPr>
          <a:xfrm>
            <a:off x="1417320" y="2898648"/>
            <a:ext cx="7178040" cy="694944"/>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Finite-state analyzers</a:t>
            </a:r>
            <a:endParaRPr lang="en-US" sz="1800" dirty="0"/>
          </a:p>
          <a:p>
            <a:pPr marL="0" indent="0">
              <a:buNone/>
            </a:pPr>
            <a:r>
              <a:rPr lang="en-US" sz="1400" dirty="0">
                <a:solidFill>
                  <a:schemeClr val="tx1"/>
                </a:solidFill>
              </a:rPr>
              <a:t>Full analysis of rich morphology, e.g. Turkish, Tamil.</a:t>
            </a:r>
            <a:endParaRPr lang="en-US" sz="1800" dirty="0"/>
          </a:p>
        </p:txBody>
      </p:sp>
      <p:sp>
        <p:nvSpPr>
          <p:cNvPr id="13" name="Number 4"/>
          <p:cNvSpPr/>
          <p:nvPr/>
        </p:nvSpPr>
        <p:spPr>
          <a:xfrm>
            <a:off x="548640" y="3749040"/>
            <a:ext cx="640080" cy="640080"/>
          </a:xfrm>
          <a:prstGeom prst="ellipse">
            <a:avLst/>
          </a:prstGeom>
          <a:solidFill>
            <a:schemeClr val="accent6"/>
          </a:solidFill>
          <a:ln/>
        </p:spPr>
        <p:txBody>
          <a:bodyPr/>
          <a:lstStyle/>
          <a:p>
            <a:endParaRPr lang="en-IN"/>
          </a:p>
        </p:txBody>
      </p:sp>
      <p:sp>
        <p:nvSpPr>
          <p:cNvPr id="14" name="Text 11"/>
          <p:cNvSpPr txBox="1"/>
          <p:nvPr/>
        </p:nvSpPr>
        <p:spPr>
          <a:xfrm>
            <a:off x="548640" y="3749040"/>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rPr>
              <a:t>4</a:t>
            </a:r>
            <a:endParaRPr lang="en-US" sz="2200" dirty="0"/>
          </a:p>
        </p:txBody>
      </p:sp>
      <p:sp>
        <p:nvSpPr>
          <p:cNvPr id="15" name="Text 12"/>
          <p:cNvSpPr txBox="1"/>
          <p:nvPr/>
        </p:nvSpPr>
        <p:spPr>
          <a:xfrm>
            <a:off x="1417320" y="3721608"/>
            <a:ext cx="7178040" cy="694944"/>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Subword tokenizers</a:t>
            </a:r>
            <a:endParaRPr lang="en-US" sz="1800" dirty="0"/>
          </a:p>
          <a:p>
            <a:pPr marL="0" indent="0">
              <a:buNone/>
            </a:pPr>
            <a:r>
              <a:rPr lang="en-US" sz="1400" dirty="0">
                <a:solidFill>
                  <a:schemeClr val="tx1"/>
                </a:solidFill>
              </a:rPr>
              <a:t>BPE, WordPiece: learn word pieces from data.</a:t>
            </a:r>
            <a:endParaRPr lang="en-US" sz="18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buNone/>
            </a:pPr>
            <a:r>
              <a:rPr lang="en-US" sz="3600" b="1" dirty="0">
                <a:solidFill>
                  <a:schemeClr val="bg1"/>
                </a:solidFill>
              </a:rPr>
              <a:t>Key takeaways</a:t>
            </a:r>
            <a:endParaRPr lang="en-US" sz="3600" dirty="0"/>
          </a:p>
        </p:txBody>
      </p:sp>
      <p:sp>
        <p:nvSpPr>
          <p:cNvPr id="4" name="Number 1"/>
          <p:cNvSpPr/>
          <p:nvPr/>
        </p:nvSpPr>
        <p:spPr>
          <a:xfrm>
            <a:off x="548640" y="1371600"/>
            <a:ext cx="685800" cy="685800"/>
          </a:xfrm>
          <a:prstGeom prst="ellipse">
            <a:avLst/>
          </a:prstGeom>
          <a:solidFill>
            <a:schemeClr val="accent3"/>
          </a:solidFill>
          <a:ln/>
        </p:spPr>
        <p:txBody>
          <a:bodyPr/>
          <a:lstStyle/>
          <a:p>
            <a:endParaRPr lang="en-IN"/>
          </a:p>
        </p:txBody>
      </p:sp>
      <p:sp>
        <p:nvSpPr>
          <p:cNvPr id="5" name="Text 2"/>
          <p:cNvSpPr txBox="1"/>
          <p:nvPr/>
        </p:nvSpPr>
        <p:spPr>
          <a:xfrm>
            <a:off x="548640" y="1371600"/>
            <a:ext cx="685800" cy="685800"/>
          </a:xfrm>
          <a:prstGeom prst="rect">
            <a:avLst/>
          </a:prstGeom>
          <a:noFill/>
          <a:ln/>
        </p:spPr>
        <p:txBody>
          <a:bodyPr wrap="square" lIns="0" tIns="0" rIns="0" bIns="0" rtlCol="0" anchor="ctr"/>
          <a:lstStyle/>
          <a:p>
            <a:pPr marL="0" indent="0" algn="ctr">
              <a:buNone/>
            </a:pPr>
            <a:r>
              <a:rPr lang="en-US" sz="2400" b="1" dirty="0">
                <a:solidFill>
                  <a:schemeClr val="tx2"/>
                </a:solidFill>
              </a:rPr>
              <a:t>1</a:t>
            </a:r>
            <a:endParaRPr lang="en-US" sz="2400" dirty="0"/>
          </a:p>
        </p:txBody>
      </p:sp>
      <p:sp>
        <p:nvSpPr>
          <p:cNvPr id="6" name="Text 3"/>
          <p:cNvSpPr txBox="1"/>
          <p:nvPr/>
        </p:nvSpPr>
        <p:spPr>
          <a:xfrm>
            <a:off x="1508760" y="1371600"/>
            <a:ext cx="7040880" cy="685800"/>
          </a:xfrm>
          <a:prstGeom prst="rect">
            <a:avLst/>
          </a:prstGeom>
          <a:noFill/>
          <a:ln/>
        </p:spPr>
        <p:txBody>
          <a:bodyPr wrap="square" lIns="0" tIns="0" rIns="0" bIns="0" rtlCol="0" anchor="ctr"/>
          <a:lstStyle/>
          <a:p>
            <a:pPr marL="0" indent="0">
              <a:buNone/>
            </a:pPr>
            <a:r>
              <a:rPr lang="en-US" sz="2000" dirty="0">
                <a:solidFill>
                  <a:schemeClr val="bg1"/>
                </a:solidFill>
              </a:rPr>
              <a:t>Inflection changes the form; derivation creates a new word.</a:t>
            </a:r>
            <a:endParaRPr lang="en-US" sz="2000" dirty="0"/>
          </a:p>
        </p:txBody>
      </p:sp>
      <p:sp>
        <p:nvSpPr>
          <p:cNvPr id="7" name="Number 2"/>
          <p:cNvSpPr/>
          <p:nvPr/>
        </p:nvSpPr>
        <p:spPr>
          <a:xfrm>
            <a:off x="548640" y="2423160"/>
            <a:ext cx="685800" cy="685800"/>
          </a:xfrm>
          <a:prstGeom prst="ellipse">
            <a:avLst/>
          </a:prstGeom>
          <a:solidFill>
            <a:schemeClr val="accent3"/>
          </a:solidFill>
          <a:ln/>
        </p:spPr>
        <p:txBody>
          <a:bodyPr/>
          <a:lstStyle/>
          <a:p>
            <a:endParaRPr lang="en-IN"/>
          </a:p>
        </p:txBody>
      </p:sp>
      <p:sp>
        <p:nvSpPr>
          <p:cNvPr id="8" name="Text 5"/>
          <p:cNvSpPr txBox="1"/>
          <p:nvPr/>
        </p:nvSpPr>
        <p:spPr>
          <a:xfrm>
            <a:off x="548640" y="2423160"/>
            <a:ext cx="685800" cy="685800"/>
          </a:xfrm>
          <a:prstGeom prst="rect">
            <a:avLst/>
          </a:prstGeom>
          <a:noFill/>
          <a:ln/>
        </p:spPr>
        <p:txBody>
          <a:bodyPr wrap="square" lIns="0" tIns="0" rIns="0" bIns="0" rtlCol="0" anchor="ctr"/>
          <a:lstStyle/>
          <a:p>
            <a:pPr marL="0" indent="0" algn="ctr">
              <a:buNone/>
            </a:pPr>
            <a:r>
              <a:rPr lang="en-US" sz="2400" b="1" dirty="0">
                <a:solidFill>
                  <a:schemeClr val="tx2"/>
                </a:solidFill>
              </a:rPr>
              <a:t>2</a:t>
            </a:r>
            <a:endParaRPr lang="en-US" sz="2400" dirty="0"/>
          </a:p>
        </p:txBody>
      </p:sp>
      <p:sp>
        <p:nvSpPr>
          <p:cNvPr id="9" name="Text 6"/>
          <p:cNvSpPr txBox="1"/>
          <p:nvPr/>
        </p:nvSpPr>
        <p:spPr>
          <a:xfrm>
            <a:off x="1508760" y="2423160"/>
            <a:ext cx="7040880" cy="685800"/>
          </a:xfrm>
          <a:prstGeom prst="rect">
            <a:avLst/>
          </a:prstGeom>
          <a:noFill/>
          <a:ln/>
        </p:spPr>
        <p:txBody>
          <a:bodyPr wrap="square" lIns="0" tIns="0" rIns="0" bIns="0" rtlCol="0" anchor="ctr"/>
          <a:lstStyle/>
          <a:p>
            <a:pPr marL="0" indent="0">
              <a:buNone/>
            </a:pPr>
            <a:r>
              <a:rPr lang="en-US" sz="2000" dirty="0">
                <a:solidFill>
                  <a:schemeClr val="bg1"/>
                </a:solidFill>
              </a:rPr>
              <a:t>Inflection is regular and rule-friendly; derivation needs semantics.</a:t>
            </a:r>
            <a:endParaRPr lang="en-US" sz="2000" dirty="0"/>
          </a:p>
        </p:txBody>
      </p:sp>
      <p:sp>
        <p:nvSpPr>
          <p:cNvPr id="10" name="Number 3"/>
          <p:cNvSpPr/>
          <p:nvPr/>
        </p:nvSpPr>
        <p:spPr>
          <a:xfrm>
            <a:off x="548640" y="3474720"/>
            <a:ext cx="685800" cy="685800"/>
          </a:xfrm>
          <a:prstGeom prst="ellipse">
            <a:avLst/>
          </a:prstGeom>
          <a:solidFill>
            <a:schemeClr val="accent3"/>
          </a:solidFill>
          <a:ln/>
        </p:spPr>
        <p:txBody>
          <a:bodyPr/>
          <a:lstStyle/>
          <a:p>
            <a:endParaRPr lang="en-IN"/>
          </a:p>
        </p:txBody>
      </p:sp>
      <p:sp>
        <p:nvSpPr>
          <p:cNvPr id="11" name="Text 8"/>
          <p:cNvSpPr txBox="1"/>
          <p:nvPr/>
        </p:nvSpPr>
        <p:spPr>
          <a:xfrm>
            <a:off x="548640" y="3474720"/>
            <a:ext cx="685800" cy="685800"/>
          </a:xfrm>
          <a:prstGeom prst="rect">
            <a:avLst/>
          </a:prstGeom>
          <a:noFill/>
          <a:ln/>
        </p:spPr>
        <p:txBody>
          <a:bodyPr wrap="square" lIns="0" tIns="0" rIns="0" bIns="0" rtlCol="0" anchor="ctr"/>
          <a:lstStyle/>
          <a:p>
            <a:pPr marL="0" indent="0" algn="ctr">
              <a:buNone/>
            </a:pPr>
            <a:r>
              <a:rPr lang="en-US" sz="2400" b="1" dirty="0">
                <a:solidFill>
                  <a:schemeClr val="tx2"/>
                </a:solidFill>
              </a:rPr>
              <a:t>3</a:t>
            </a:r>
            <a:endParaRPr lang="en-US" sz="2400" dirty="0"/>
          </a:p>
        </p:txBody>
      </p:sp>
      <p:sp>
        <p:nvSpPr>
          <p:cNvPr id="12" name="Text 9"/>
          <p:cNvSpPr txBox="1"/>
          <p:nvPr/>
        </p:nvSpPr>
        <p:spPr>
          <a:xfrm>
            <a:off x="1508760" y="3474720"/>
            <a:ext cx="7040880" cy="685800"/>
          </a:xfrm>
          <a:prstGeom prst="rect">
            <a:avLst/>
          </a:prstGeom>
          <a:noFill/>
          <a:ln/>
        </p:spPr>
        <p:txBody>
          <a:bodyPr wrap="square" lIns="0" tIns="0" rIns="0" bIns="0" rtlCol="0" anchor="ctr"/>
          <a:lstStyle/>
          <a:p>
            <a:pPr marL="0" indent="0">
              <a:buNone/>
            </a:pPr>
            <a:r>
              <a:rPr lang="en-US" sz="2000" dirty="0">
                <a:solidFill>
                  <a:schemeClr val="bg1"/>
                </a:solidFill>
              </a:rPr>
              <a:t>Modern NLP combines morphological analyzers with subword models to handle both.</a:t>
            </a:r>
            <a:endParaRPr lang="en-US" sz="20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C3CDA-4EA7-4466-18C1-6FCF9E08AAC3}"/>
              </a:ext>
            </a:extLst>
          </p:cNvPr>
          <p:cNvSpPr>
            <a:spLocks noGrp="1"/>
          </p:cNvSpPr>
          <p:nvPr>
            <p:ph type="title" idx="101"/>
          </p:nvPr>
        </p:nvSpPr>
        <p:spPr/>
        <p:txBody>
          <a:bodyPr/>
          <a:lstStyle/>
          <a:p>
            <a:r>
              <a:rPr lang="en-US" dirty="0"/>
              <a:t>Presentation</a:t>
            </a:r>
            <a:endParaRPr lang="en-IN" dirty="0"/>
          </a:p>
        </p:txBody>
      </p:sp>
      <p:pic>
        <p:nvPicPr>
          <p:cNvPr id="4" name="Picture 3">
            <a:extLst>
              <a:ext uri="{FF2B5EF4-FFF2-40B4-BE49-F238E27FC236}">
                <a16:creationId xmlns:a16="http://schemas.microsoft.com/office/drawing/2014/main" id="{FC9D0314-1362-6A2A-1C28-3DFF2D468B20}"/>
              </a:ext>
            </a:extLst>
          </p:cNvPr>
          <p:cNvPicPr>
            <a:picLocks noChangeAspect="1"/>
          </p:cNvPicPr>
          <p:nvPr/>
        </p:nvPicPr>
        <p:blipFill>
          <a:blip r:embed="rId2"/>
          <a:stretch>
            <a:fillRect/>
          </a:stretch>
        </p:blipFill>
        <p:spPr>
          <a:xfrm>
            <a:off x="3121381" y="1138335"/>
            <a:ext cx="2901237" cy="3868316"/>
          </a:xfrm>
          <a:prstGeom prst="rect">
            <a:avLst/>
          </a:prstGeom>
        </p:spPr>
      </p:pic>
    </p:spTree>
    <p:extLst>
      <p:ext uri="{BB962C8B-B14F-4D97-AF65-F5344CB8AC3E}">
        <p14:creationId xmlns:p14="http://schemas.microsoft.com/office/powerpoint/2010/main" val="3199932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C9F0A-ECFC-78DE-C28F-00D20338250F}"/>
              </a:ext>
            </a:extLst>
          </p:cNvPr>
          <p:cNvSpPr>
            <a:spLocks noGrp="1"/>
          </p:cNvSpPr>
          <p:nvPr>
            <p:ph type="title" idx="101"/>
          </p:nvPr>
        </p:nvSpPr>
        <p:spPr>
          <a:xfrm>
            <a:off x="598403" y="1669868"/>
            <a:ext cx="8046720" cy="731520"/>
          </a:xfrm>
        </p:spPr>
        <p:txBody>
          <a:bodyPr/>
          <a:lstStyle/>
          <a:p>
            <a:r>
              <a:rPr lang="en-US" sz="10000" dirty="0">
                <a:latin typeface="Mistral" panose="03090702030407020403" pitchFamily="66" charset="0"/>
                <a:cs typeface="Mongolian Baiti" panose="03000500000000000000" pitchFamily="66" charset="0"/>
              </a:rPr>
              <a:t>THANK YOU!!</a:t>
            </a:r>
            <a:endParaRPr lang="en-IN" sz="10000" dirty="0">
              <a:latin typeface="Mistral" panose="03090702030407020403" pitchFamily="66" charset="0"/>
              <a:cs typeface="Mongolian Baiti" panose="03000500000000000000" pitchFamily="66" charset="0"/>
            </a:endParaRPr>
          </a:p>
        </p:txBody>
      </p:sp>
    </p:spTree>
    <p:extLst>
      <p:ext uri="{BB962C8B-B14F-4D97-AF65-F5344CB8AC3E}">
        <p14:creationId xmlns:p14="http://schemas.microsoft.com/office/powerpoint/2010/main" val="3880220532"/>
      </p:ext>
    </p:extLst>
  </p:cSld>
  <p:clrMapOvr>
    <a:masterClrMapping/>
  </p:clrMapOvr>
</p:sld>
</file>

<file path=ppt/theme/theme1.xml><?xml version="1.0" encoding="utf-8"?>
<a:theme xmlns:a="http://schemas.openxmlformats.org/drawingml/2006/main" name="Morphology">
  <a:themeElements>
    <a:clrScheme name="Morphology">
      <a:dk1>
        <a:srgbClr val="1B1B2F"/>
      </a:dk1>
      <a:lt1>
        <a:srgbClr val="FFFFFF"/>
      </a:lt1>
      <a:dk2>
        <a:srgbClr val="0B3C49"/>
      </a:dk2>
      <a:lt2>
        <a:srgbClr val="EAF4F4"/>
      </a:lt2>
      <a:accent1>
        <a:srgbClr val="117A8B"/>
      </a:accent1>
      <a:accent2>
        <a:srgbClr val="C2410C"/>
      </a:accent2>
      <a:accent3>
        <a:srgbClr val="FFB703"/>
      </a:accent3>
      <a:accent4>
        <a:srgbClr val="8D99AE"/>
      </a:accent4>
      <a:accent5>
        <a:srgbClr val="2A9D8F"/>
      </a:accent5>
      <a:accent6>
        <a:srgbClr val="9C3D54"/>
      </a:accent6>
      <a:hlink>
        <a:srgbClr val="117A8B"/>
      </a:hlink>
      <a:folHlink>
        <a:srgbClr val="8D99AE"/>
      </a:folHlink>
    </a:clrScheme>
    <a:fontScheme name="Morpholog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1079</Words>
  <Application>Microsoft Office PowerPoint</Application>
  <PresentationFormat>On-screen Show (16:9)</PresentationFormat>
  <Paragraphs>177</Paragraphs>
  <Slides>12</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Mistral</vt:lpstr>
      <vt:lpstr>Morphology</vt:lpstr>
      <vt:lpstr>PowerPoint Presentation</vt:lpstr>
      <vt:lpstr>What is morphology?</vt:lpstr>
      <vt:lpstr>Inflectional morphology</vt:lpstr>
      <vt:lpstr>Derivational morphology</vt:lpstr>
      <vt:lpstr>Side-by-side comparison</vt:lpstr>
      <vt:lpstr>How they combine</vt:lpstr>
      <vt:lpstr>Applications in NLP</vt:lpstr>
      <vt:lpstr>Challenges</vt:lpstr>
      <vt:lpstr>Techniques used in NLP</vt:lpstr>
      <vt:lpstr>Key takeaways</vt:lpstr>
      <vt:lpstr>Presentation</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Inflectional vs Derivational Morphology in NLP</dc:title>
  <dc:subject>PptxGenJS Presentation</dc:subject>
  <dc:creator>PptxGenJS</dc:creator>
  <cp:lastModifiedBy>Rathan Reddy</cp:lastModifiedBy>
  <cp:revision>3</cp:revision>
  <dcterms:created xsi:type="dcterms:W3CDTF">2026-10-22T02:49:12Z</dcterms:created>
  <dcterms:modified xsi:type="dcterms:W3CDTF">2026-10-27T02:59:51Z</dcterms:modified>
</cp:coreProperties>
</file>